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5400000">
            <a:off x="9601200" y="0"/>
            <a:ext cx="2590495" cy="2590495"/>
          </a:xfrm>
          <a:prstGeom prst="rtTriangl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NEO-GRAPHIC DIAGONAL BREAK EDITION 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01 // 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65836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320040" rIns="228600" bIns="182880"/>
          <a:lstStyle/>
          <a:p>
            <a:pPr algn="ctr">
              <a:defRPr sz="1800">
                <a:solidFill>
                  <a:srgbClr val="334155"/>
                </a:solidFill>
              </a:defRPr>
            </a:pPr>
            <a:r>
              <a:t>[Subtítulo / Descrição da Aula]</a:t>
            </a:r>
            <a:br/>
            <a:br/>
            <a:r>
              <a:t>📅 Data da Aula: [DD/MM/AAAA]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89888"/>
            <a:ext cx="1920240" cy="2286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NEO-GRAPHIC BREAK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280160"/>
            <a:ext cx="4206240" cy="4663440"/>
          </a:xfrm>
          <a:prstGeom prst="roundRect">
            <a:avLst/>
          </a:prstGeom>
          <a:solidFill>
            <a:srgbClr val="EDE9FE"/>
          </a:solidFill>
          <a:ln w="254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[Visual Diagonal Break]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5400000">
            <a:off x="9601200" y="0"/>
            <a:ext cx="2590495" cy="2590495"/>
          </a:xfrm>
          <a:prstGeom prst="rtTriangl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NEO-GRAPHIC DIAGONAL BREAK EDITION 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02 //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Presença &amp; Integrantes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Registro Neo-Gráfico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10972800" cy="210312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320040" rIns="228600" bIns="182880"/>
          <a:lstStyle/>
          <a:p>
            <a:pPr algn="ctr">
              <a:defRPr sz="1600">
                <a:solidFill>
                  <a:srgbClr val="334155"/>
                </a:solidFill>
              </a:defRPr>
            </a:pPr>
            <a:r>
              <a:t>[Nome do(a) Professor(a)]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481328"/>
            <a:ext cx="1005840" cy="2286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DOCENTE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749039"/>
            <a:ext cx="10972800" cy="22860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320040" rIns="228600" bIns="182880"/>
          <a:lstStyle/>
          <a:p>
            <a:pPr algn="ctr">
              <a:defRPr sz="1600">
                <a:solidFill>
                  <a:srgbClr val="334155"/>
                </a:solidFill>
              </a:defRPr>
            </a:pPr>
            <a:r>
              <a:t>[Nome do Aluno / Lista da Turma]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858768"/>
            <a:ext cx="822960" cy="2286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TURMA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5400000">
            <a:off x="9601200" y="0"/>
            <a:ext cx="2590495" cy="2590495"/>
          </a:xfrm>
          <a:prstGeom prst="rtTriangl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NEO-GRAPHIC DIAGONAL BREAK EDITION 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03 //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Aquecimento / Warm-up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Foco 100% na Fala (3 Minutos)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6400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320040" rIns="228600" bIns="182880"/>
          <a:lstStyle/>
          <a:p>
            <a:pPr algn="ctr">
              <a:defRPr sz="1600">
                <a:solidFill>
                  <a:srgbClr val="334155"/>
                </a:solidFill>
              </a:defRPr>
            </a:pPr>
            <a:r>
              <a:t>[Insira aqui a pergunta provocativa de aquecimento]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481328"/>
            <a:ext cx="1645920" cy="2286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SPEECH TRIGGER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31920"/>
            <a:ext cx="6400800" cy="21031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20040" rIns="228600" bIns="182880"/>
          <a:lstStyle/>
          <a:p>
            <a:pPr algn="ctr">
              <a:defRPr sz="1500">
                <a:solidFill>
                  <a:srgbClr val="334155"/>
                </a:solidFill>
              </a:defRPr>
            </a:pPr>
            <a:r>
              <a:t>Ativa o córtex pré-frontal e reduz a inibição linguística inicial.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4041648"/>
            <a:ext cx="1645920" cy="2286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NEURO 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1371600"/>
            <a:ext cx="4389120" cy="4663440"/>
          </a:xfrm>
          <a:prstGeom prst="roundRect">
            <a:avLst/>
          </a:prstGeom>
          <a:solidFill>
            <a:srgbClr val="EDE9FE"/>
          </a:solidFill>
          <a:ln w="254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[Imagem Diagonal Warmup]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5400000">
            <a:off x="9601200" y="0"/>
            <a:ext cx="2590495" cy="2590495"/>
          </a:xfrm>
          <a:prstGeom prst="rtTriangl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NEO-GRAPHIC DIAGONAL BREAK EDITION 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04 //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Objetivos da Aula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Metas de Aprendizado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640080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[Objetivo 1]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926080"/>
            <a:ext cx="640080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[Objetivo 2]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480560"/>
            <a:ext cx="640080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[Objetivo 3]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1371600"/>
            <a:ext cx="4389120" cy="466344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320040" rIns="228600" bIns="182880"/>
          <a:lstStyle/>
          <a:p>
            <a:pPr algn="ctr">
              <a:defRPr sz="1500">
                <a:solidFill>
                  <a:srgbClr val="334155"/>
                </a:solidFill>
              </a:defRPr>
            </a:pPr>
            <a:r>
              <a:t>Nesta aula daremos atenção à escrita para reforçar a memorização de estruturas/vocabulário e reduzir a interferência da língua materna.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60920" y="1481328"/>
            <a:ext cx="1554480" cy="2286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WRITING FOCUS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5400000">
            <a:off x="9601200" y="0"/>
            <a:ext cx="2590495" cy="2590495"/>
          </a:xfrm>
          <a:prstGeom prst="rtTriangl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NEO-GRAPHIC DIAGONAL BREAK EDITION 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05 //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A Nossa Metodologia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Estrutura Haas Language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53035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320040" rIns="22860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Conversação inicial sem julgamentos.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481328"/>
            <a:ext cx="1097280" cy="2286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PASSO 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371600"/>
            <a:ext cx="5486400" cy="21945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320040" rIns="22860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Apresentação leve da gramática.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481328"/>
            <a:ext cx="1097280" cy="2286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PASSO 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40480"/>
            <a:ext cx="3474720" cy="228600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320040" rIns="22860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Exercícios com suporte.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950208"/>
            <a:ext cx="1097280" cy="2286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PASSO 03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3840480"/>
            <a:ext cx="36576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320040" rIns="22860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Aplicação prática real.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3950208"/>
            <a:ext cx="1097280" cy="2286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PASSO 04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3840480"/>
            <a:ext cx="3474720" cy="22860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320040" rIns="22860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Consolidação visual.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20" y="3950208"/>
            <a:ext cx="1097280" cy="2286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PASSO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5400000">
            <a:off x="9601200" y="0"/>
            <a:ext cx="2590495" cy="2590495"/>
          </a:xfrm>
          <a:prstGeom prst="rtTriangl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NEO-GRAPHIC DIAGONAL BREAK EDITION 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06 //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Explicação do Tema — Parte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64008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320040" rIns="228600" bIns="182880"/>
          <a:lstStyle/>
          <a:p>
            <a:pPr algn="ctr">
              <a:defRPr sz="1500">
                <a:solidFill>
                  <a:srgbClr val="334155"/>
                </a:solidFill>
              </a:defRPr>
            </a:pPr>
            <a:r>
              <a:t>[Explicação e exemplo central da estrutura - Bloco 1]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481328"/>
            <a:ext cx="822960" cy="2286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FOCUS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1371600"/>
            <a:ext cx="4389120" cy="21945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320040" rIns="22860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60920" y="1481328"/>
            <a:ext cx="1097280" cy="2286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EXAMPLES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3840480"/>
            <a:ext cx="4389120" cy="219456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320040" rIns="22860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[Exceções, nuances gramaticais e contexto de uso]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60920" y="3950208"/>
            <a:ext cx="822960" cy="2286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RULES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5400000">
            <a:off x="9601200" y="0"/>
            <a:ext cx="2590495" cy="2590495"/>
          </a:xfrm>
          <a:prstGeom prst="rtTriangl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NEO-GRAPHIC DIAGONAL BREAK EDITION 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07 //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Explicação do Tema — Parte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64008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320040" rIns="228600" bIns="182880"/>
          <a:lstStyle/>
          <a:p>
            <a:pPr algn="ctr">
              <a:defRPr sz="1500">
                <a:solidFill>
                  <a:srgbClr val="334155"/>
                </a:solidFill>
              </a:defRPr>
            </a:pPr>
            <a:r>
              <a:t>[Explicação e exemplo central da estrutura - Bloco 2]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481328"/>
            <a:ext cx="822960" cy="2286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FOCUS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1371600"/>
            <a:ext cx="4389120" cy="21945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320040" rIns="22860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60920" y="1481328"/>
            <a:ext cx="1097280" cy="2286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EXAMPLES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3840480"/>
            <a:ext cx="4389120" cy="219456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320040" rIns="22860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[Exceções, nuances gramaticais e contexto de uso]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60920" y="3950208"/>
            <a:ext cx="822960" cy="2286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RULES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5400000">
            <a:off x="9601200" y="0"/>
            <a:ext cx="2590495" cy="2590495"/>
          </a:xfrm>
          <a:prstGeom prst="rtTriangl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NEO-GRAPHIC DIAGONAL BREAK EDITION 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08 //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Explicação do Tema — Parte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64008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320040" rIns="228600" bIns="182880"/>
          <a:lstStyle/>
          <a:p>
            <a:pPr algn="ctr">
              <a:defRPr sz="1500">
                <a:solidFill>
                  <a:srgbClr val="334155"/>
                </a:solidFill>
              </a:defRPr>
            </a:pPr>
            <a:r>
              <a:t>[Explicação e exemplo central da estrutura - Bloco 3]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481328"/>
            <a:ext cx="822960" cy="2286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FOCUS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1371600"/>
            <a:ext cx="4389120" cy="21945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320040" rIns="22860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60920" y="1481328"/>
            <a:ext cx="1097280" cy="2286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EXAMPLES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3840480"/>
            <a:ext cx="4389120" cy="219456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320040" rIns="22860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[Exceções, nuances gramaticais e contexto de uso]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60920" y="3950208"/>
            <a:ext cx="822960" cy="2286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RULES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5400000">
            <a:off x="9601200" y="0"/>
            <a:ext cx="2590495" cy="2590495"/>
          </a:xfrm>
          <a:prstGeom prst="rtTriangl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NEO-GRAPHIC DIAGONAL BREAK EDITION 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09 //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Síntese do Conteúdo &amp; Sugestão Cultural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3035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320040" rIns="228600" bIns="182880"/>
          <a:lstStyle/>
          <a:p>
            <a:pPr algn="ctr">
              <a:defRPr sz="1500">
                <a:solidFill>
                  <a:srgbClr val="334155"/>
                </a:solidFill>
              </a:defRPr>
            </a:pPr>
            <a:r>
              <a:t>[Resumo sintético dos pontos chave ensinados na aula]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481328"/>
            <a:ext cx="1005840" cy="2286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486400" cy="466344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320040" rIns="228600" bIns="182880"/>
          <a:lstStyle/>
          <a:p>
            <a:pPr algn="ctr">
              <a:defRPr sz="1500">
                <a:solidFill>
                  <a:srgbClr val="334155"/>
                </a:solidFill>
              </a:defRPr>
            </a:pPr>
            <a:r>
              <a:t>🎵 [Nome da Música / Vídeo recomendado sobre o assunto].</a:t>
            </a:r>
            <a:br/>
            <a:br/>
            <a:r>
              <a:t>O professor pode rodar o áudio/vídeo ou deixar como recomendação extra para o aluno praticar.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481328"/>
            <a:ext cx="822960" cy="2286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MEDIA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5400000">
            <a:off x="9601200" y="0"/>
            <a:ext cx="2590495" cy="2590495"/>
          </a:xfrm>
          <a:prstGeom prst="rtTriangl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NEO-GRAPHIC DIAGONAL BREAK EDITION 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10 //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Prática Guiada — Blocos 1 a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Correção de Vícios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1097280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77240" tIns="109728" rIns="137160" bIns="91440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[Lacunas contextualizadas com opções]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481328"/>
            <a:ext cx="594360" cy="292608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#01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51760"/>
            <a:ext cx="53035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77240" tIns="109728" rIns="137160" bIns="91440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[Lacunas contextualizadas com opções]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" y="2761488"/>
            <a:ext cx="594360" cy="292608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#02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651760"/>
            <a:ext cx="53035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77240" tIns="109728" rIns="137160" bIns="91440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[Preenchimento direto de verbos]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2761488"/>
            <a:ext cx="594360" cy="292608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#03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480560"/>
            <a:ext cx="53035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77240" tIns="109728" rIns="137160" bIns="91440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[Reestruturação / Transformação de frase]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4590288"/>
            <a:ext cx="594360" cy="292608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#04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4480560"/>
            <a:ext cx="53035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77240" tIns="109728" rIns="137160" bIns="91440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[Reestruturação / Transformação de frase]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19088" y="4590288"/>
            <a:ext cx="594360" cy="292608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#05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5400000">
            <a:off x="9601200" y="0"/>
            <a:ext cx="2590495" cy="2590495"/>
          </a:xfrm>
          <a:prstGeom prst="rtTriangl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NEO-GRAPHIC DIAGONAL BREAK EDITION 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11 //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Prática Guiada — Blocos 6 a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Desafios Práticos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1097280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77240" tIns="109728" rIns="137160" bIns="91440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[Preposição / Conector correto]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481328"/>
            <a:ext cx="594360" cy="292608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#06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51760"/>
            <a:ext cx="53035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77240" tIns="109728" rIns="137160" bIns="91440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[Escolha da opção correta]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" y="2761488"/>
            <a:ext cx="594360" cy="292608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#07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651760"/>
            <a:ext cx="53035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77240" tIns="109728" rIns="137160" bIns="91440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[Substituição por sinônimo formal]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2761488"/>
            <a:ext cx="594360" cy="292608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#08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480560"/>
            <a:ext cx="53035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77240" tIns="109728" rIns="137160" bIns="91440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[Identificação de erro e correção]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4590288"/>
            <a:ext cx="594360" cy="292608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#09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4480560"/>
            <a:ext cx="53035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77240" tIns="109728" rIns="137160" bIns="91440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[Tradução de sentido sem uso literal]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19088" y="4590288"/>
            <a:ext cx="594360" cy="292608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#10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5400000">
            <a:off x="9601200" y="0"/>
            <a:ext cx="2590495" cy="2590495"/>
          </a:xfrm>
          <a:prstGeom prst="rtTriangl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NEO-GRAPHIC DIAGONAL BREAK EDITION 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12 //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Thread Ativa [1/8]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109728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20040" rIns="228600" bIns="182880"/>
          <a:lstStyle/>
          <a:p>
            <a:pPr algn="ctr">
              <a:defRPr sz="18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481328"/>
            <a:ext cx="1554480" cy="2286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DIAGONAL HERO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31920"/>
            <a:ext cx="10972800" cy="21031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20040" rIns="22860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4041648"/>
            <a:ext cx="1737360" cy="2286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TEACHER SUPPORT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5400000">
            <a:off x="9601200" y="0"/>
            <a:ext cx="2590495" cy="2590495"/>
          </a:xfrm>
          <a:prstGeom prst="rtTriangl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NEO-GRAPHIC DIAGONAL BREAK EDITION 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13 //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Thread Ativa [2/8]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64008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20040" rIns="228600" bIns="182880"/>
          <a:lstStyle/>
          <a:p>
            <a:pPr algn="ctr">
              <a:defRPr sz="1600">
                <a:solidFill>
                  <a:srgbClr val="334155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481328"/>
            <a:ext cx="1280160" cy="2286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ACTIVE Q02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31920"/>
            <a:ext cx="6400800" cy="21031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20040" rIns="22860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4041648"/>
            <a:ext cx="1737360" cy="2286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TEACHER SUPPORT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1371600"/>
            <a:ext cx="4114800" cy="466344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100">
                <a:solidFill>
                  <a:srgbClr val="334155"/>
                </a:solidFill>
              </a:defRPr>
            </a:pPr>
            <a:r>
              <a:t>[Pergunta principal 1 sobre o ...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5400000">
            <a:off x="9601200" y="0"/>
            <a:ext cx="2590495" cy="2590495"/>
          </a:xfrm>
          <a:prstGeom prst="rtTriangl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NEO-GRAPHIC DIAGONAL BREAK EDITION 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14 //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Thread Ativa [3/8]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64008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20040" rIns="228600" bIns="182880"/>
          <a:lstStyle/>
          <a:p>
            <a:pPr algn="ctr">
              <a:defRPr sz="1600">
                <a:solidFill>
                  <a:srgbClr val="334155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481328"/>
            <a:ext cx="1280160" cy="2286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ACTIVE Q03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31920"/>
            <a:ext cx="6400800" cy="21031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20040" rIns="22860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4041648"/>
            <a:ext cx="1737360" cy="2286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TEACHER SUPPORT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1371600"/>
            <a:ext cx="4114800" cy="2276856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100">
                <a:solidFill>
                  <a:srgbClr val="334155"/>
                </a:solidFill>
              </a:defRPr>
            </a:pPr>
            <a:r>
              <a:t>[Pergunta principal 1 sobre o 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3758183"/>
            <a:ext cx="4114800" cy="2276856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100">
                <a:solidFill>
                  <a:srgbClr val="334155"/>
                </a:solidFill>
              </a:defRPr>
            </a:pPr>
            <a:r>
              <a:t>[Pergunta principal 2 sobre o ...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5400000">
            <a:off x="9601200" y="0"/>
            <a:ext cx="2590495" cy="2590495"/>
          </a:xfrm>
          <a:prstGeom prst="rtTriangl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NEO-GRAPHIC DIAGONAL BREAK EDITION 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15 //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Thread Ativa [4/8]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64008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20040" rIns="228600" bIns="182880"/>
          <a:lstStyle/>
          <a:p>
            <a:pPr algn="ctr">
              <a:defRPr sz="1600">
                <a:solidFill>
                  <a:srgbClr val="334155"/>
                </a:solidFill>
              </a:defRPr>
            </a:pPr>
            <a:r>
              <a:t>[Pergunta principal 4 sobre o tema]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481328"/>
            <a:ext cx="1280160" cy="2286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ACTIVE Q04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31920"/>
            <a:ext cx="6400800" cy="21031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20040" rIns="22860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4041648"/>
            <a:ext cx="1737360" cy="2286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TEACHER SUPPORT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1371600"/>
            <a:ext cx="4114800" cy="1481328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100">
                <a:solidFill>
                  <a:srgbClr val="334155"/>
                </a:solidFill>
              </a:defRPr>
            </a:pPr>
            <a:r>
              <a:t>[Pergunta principal 1 sobre o 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2962656"/>
            <a:ext cx="4114800" cy="1481328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100">
                <a:solidFill>
                  <a:srgbClr val="334155"/>
                </a:solidFill>
              </a:defRPr>
            </a:pPr>
            <a:r>
              <a:t>[Pergunta principal 2 sobre o 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4553712"/>
            <a:ext cx="4114800" cy="1481328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100">
                <a:solidFill>
                  <a:srgbClr val="334155"/>
                </a:solidFill>
              </a:defRPr>
            </a:pPr>
            <a:r>
              <a:t>[Pergunta principal 3 sobre o ...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5400000">
            <a:off x="9601200" y="0"/>
            <a:ext cx="2590495" cy="2590495"/>
          </a:xfrm>
          <a:prstGeom prst="rtTriangl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NEO-GRAPHIC DIAGONAL BREAK EDITION 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16 //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Thread Ativa [5/8]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64008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20040" rIns="228600" bIns="182880"/>
          <a:lstStyle/>
          <a:p>
            <a:pPr algn="ctr">
              <a:defRPr sz="1600">
                <a:solidFill>
                  <a:srgbClr val="334155"/>
                </a:solidFill>
              </a:defRPr>
            </a:pPr>
            <a:r>
              <a:t>[Pergunta principal 5 sobre o tema]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481328"/>
            <a:ext cx="1280160" cy="2286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ACTIVE Q05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31920"/>
            <a:ext cx="6400800" cy="21031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20040" rIns="22860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4041648"/>
            <a:ext cx="1737360" cy="2286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TEACHER SUPPORT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1371600"/>
            <a:ext cx="4114800" cy="1083563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1 sobre o 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2564891"/>
            <a:ext cx="4114800" cy="1083563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2 sobre o 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3758183"/>
            <a:ext cx="4114800" cy="1083563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3 sobre o ...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4951475"/>
            <a:ext cx="4114800" cy="1083563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4 sobre o ...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5400000">
            <a:off x="9601200" y="0"/>
            <a:ext cx="2590495" cy="2590495"/>
          </a:xfrm>
          <a:prstGeom prst="rtTriangl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NEO-GRAPHIC DIAGONAL BREAK EDITION 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17 //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Thread Ativa [6/8]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64008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20040" rIns="228600" bIns="182880"/>
          <a:lstStyle/>
          <a:p>
            <a:pPr algn="ctr">
              <a:defRPr sz="1600">
                <a:solidFill>
                  <a:srgbClr val="334155"/>
                </a:solidFill>
              </a:defRPr>
            </a:pPr>
            <a:r>
              <a:t>[Pergunta principal 6 sobre o tema]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481328"/>
            <a:ext cx="1280160" cy="2286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ACTIVE Q06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31920"/>
            <a:ext cx="6400800" cy="21031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20040" rIns="22860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4041648"/>
            <a:ext cx="1737360" cy="2286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TEACHER SUPPORT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1371600"/>
            <a:ext cx="4114800" cy="844905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1 sobre o 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2326233"/>
            <a:ext cx="4114800" cy="844905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2 sobre o 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3280867"/>
            <a:ext cx="4114800" cy="844905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3 sobre o ...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4235500"/>
            <a:ext cx="4114800" cy="844905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4 sobre o ...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5190134"/>
            <a:ext cx="4114800" cy="844905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5 sobre o ...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5400000">
            <a:off x="9601200" y="0"/>
            <a:ext cx="2590495" cy="2590495"/>
          </a:xfrm>
          <a:prstGeom prst="rtTriangl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NEO-GRAPHIC DIAGONAL BREAK EDITION 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18 //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Thread Ativa [7/8]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64008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20040" rIns="228600" bIns="182880"/>
          <a:lstStyle/>
          <a:p>
            <a:pPr algn="ctr">
              <a:defRPr sz="1600">
                <a:solidFill>
                  <a:srgbClr val="334155"/>
                </a:solidFill>
              </a:defRPr>
            </a:pPr>
            <a:r>
              <a:t>[Pergunta principal 7 sobre o tema]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481328"/>
            <a:ext cx="1280160" cy="2286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ACTIVE Q07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31920"/>
            <a:ext cx="6400800" cy="21031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20040" rIns="22860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4041648"/>
            <a:ext cx="1737360" cy="2286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TEACHER SUPPORT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1371600"/>
            <a:ext cx="4114800" cy="68580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1 sobre o 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2167128"/>
            <a:ext cx="4114800" cy="6858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2 sobre o 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2962656"/>
            <a:ext cx="4114800" cy="68580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3 sobre o ...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3758183"/>
            <a:ext cx="4114800" cy="6858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4 sobre o ...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4553712"/>
            <a:ext cx="4114800" cy="68580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5 sobre o ...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5349240"/>
            <a:ext cx="4114800" cy="6858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6 sobre o ...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5400000">
            <a:off x="9601200" y="0"/>
            <a:ext cx="2590495" cy="2590495"/>
          </a:xfrm>
          <a:prstGeom prst="rtTriangl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NEO-GRAPHIC DIAGONAL BREAK EDITION 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19 //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Thread Ativa [8/8]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64008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20040" rIns="228600" bIns="182880"/>
          <a:lstStyle/>
          <a:p>
            <a:pPr algn="ctr">
              <a:defRPr sz="1600">
                <a:solidFill>
                  <a:srgbClr val="334155"/>
                </a:solidFill>
              </a:defRPr>
            </a:pPr>
            <a:r>
              <a:t>[Pergunta principal 8 sobre o tema]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481328"/>
            <a:ext cx="1280160" cy="2286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ACTIVE Q08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31920"/>
            <a:ext cx="6400800" cy="21031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20040" rIns="22860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4041648"/>
            <a:ext cx="1737360" cy="2286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TEACHER SUPPORT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1371600"/>
            <a:ext cx="4114800" cy="572153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1 sobre o 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2053481"/>
            <a:ext cx="4114800" cy="572153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2 sobre o 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2735362"/>
            <a:ext cx="4114800" cy="572153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3 sobre o ...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3417243"/>
            <a:ext cx="4114800" cy="572153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4 sobre o ...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4099124"/>
            <a:ext cx="4114800" cy="572153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5 sobre o ...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4781005"/>
            <a:ext cx="4114800" cy="572153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6 sobre o ...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5462886"/>
            <a:ext cx="4114800" cy="572153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7 sobre o ...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5400000">
            <a:off x="9601200" y="0"/>
            <a:ext cx="2590495" cy="2590495"/>
          </a:xfrm>
          <a:prstGeom prst="rtTriangl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NEO-GRAPHIC DIAGONAL BREAK EDITION 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20 //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Atividade de Escrita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Consolidação e Memorização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109728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320040" rIns="228600" bIns="182880"/>
          <a:lstStyle/>
          <a:p>
            <a:pPr algn="ctr">
              <a:defRPr sz="1500">
                <a:solidFill>
                  <a:srgbClr val="334155"/>
                </a:solidFill>
              </a:defRPr>
            </a:pPr>
            <a:r>
              <a:t>[Instrução detalhada da tarefa: escrever um texto, frases ou diálogo]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481328"/>
            <a:ext cx="1463040" cy="2286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WRITING TASK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31920"/>
            <a:ext cx="10972800" cy="21031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20040" rIns="22860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Identificamos que a escrita nesta etapa é fundamental para você fixar as estruturas aprendidas, expandir vocabulário ativo e diminuir a tradução mental automática do seu idioma nativo.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4041648"/>
            <a:ext cx="1737360" cy="2286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NEURO RATIONALE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5400000">
            <a:off x="9601200" y="0"/>
            <a:ext cx="2590495" cy="2590495"/>
          </a:xfrm>
          <a:prstGeom prst="rtTriangl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NEO-GRAPHIC DIAGONAL BREAK EDITION 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21 //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Encerramento — Tarefa de Casa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Ação e Prática Contínua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109728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320040" rIns="228600" bIns="182880"/>
          <a:lstStyle/>
          <a:p>
            <a:pPr algn="ctr">
              <a:defRPr sz="1500">
                <a:solidFill>
                  <a:srgbClr val="334155"/>
                </a:solidFill>
              </a:defRPr>
            </a:pPr>
            <a:r>
              <a:t>• [Atividade prática 1 para realizar fora da aula]</a:t>
            </a:r>
            <a:br/>
            <a:r>
              <a:t>• [Atividade de fixação de vocabulário ou escuta]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481328"/>
            <a:ext cx="1097280" cy="2286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HOMEWORK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5400000">
            <a:off x="9601200" y="0"/>
            <a:ext cx="2590495" cy="2590495"/>
          </a:xfrm>
          <a:prstGeom prst="rtTriangl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NEO-GRAPHIC DIAGONAL BREAK EDITION 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22 //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Encerramento &amp; Feedback Rápido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Considerações Finais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10972800" cy="201168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320040" rIns="228600" bIns="182880"/>
          <a:lstStyle/>
          <a:p>
            <a:pPr algn="ctr">
              <a:defRPr sz="1600">
                <a:solidFill>
                  <a:srgbClr val="334155"/>
                </a:solidFill>
              </a:defRPr>
            </a:pPr>
            <a:r>
              <a:t>Obrigado pela dedicação na aula de hoje!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481328"/>
            <a:ext cx="914400" cy="2286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THANKS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566160"/>
            <a:ext cx="10972800" cy="246888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320040" rIns="228600" bIns="182880"/>
          <a:lstStyle/>
          <a:p>
            <a:pPr algn="ctr">
              <a:defRPr sz="1500">
                <a:solidFill>
                  <a:srgbClr val="334155"/>
                </a:solidFill>
              </a:defRPr>
            </a:pPr>
            <a:r>
              <a:t>[Espaço destinado para o professor coletar dúvidas rápidas e considerações do aluno]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675887"/>
            <a:ext cx="1097280" cy="2286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FEEDBACK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