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BUBBLE CHAT EDITION 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1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943600" cy="475488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[Título da Aula / Tema Principal]</a:t>
            </a:r>
          </a:p>
          <a:p>
            <a:pPr>
              <a:spcBef>
                <a:spcPts val="600"/>
              </a:spcBef>
              <a:defRPr sz="1800">
                <a:solidFill>
                  <a:srgbClr val="E0F2F1"/>
                </a:solidFill>
              </a:defRPr>
            </a:pPr>
            <a:r>
              <a:t>[Subtítulo / Descrição da Aula]</a:t>
            </a:r>
            <a:br/>
            <a:br/>
            <a:r>
              <a:t>📅 Data da Aula: [DD/MM/AAAA]</a:t>
            </a:r>
          </a:p>
        </p:txBody>
      </p:sp>
      <p:sp>
        <p:nvSpPr>
          <p:cNvPr id="6" name="Right Triangle 5"/>
          <p:cNvSpPr/>
          <p:nvPr/>
        </p:nvSpPr>
        <p:spPr>
          <a:xfrm rot="10800000">
            <a:off x="621792" y="1508760"/>
            <a:ext cx="182880" cy="18288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" y="1463040"/>
            <a:ext cx="411480" cy="41148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371600"/>
            <a:ext cx="4572000" cy="475488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📷 [Imagem da Capa]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BUBBLE CHAT EDITION 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Presença &amp; Integrantes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Membros da Sessão de Hoje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515600" cy="146304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Professor(a):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[Nome do(a) Professor(a)]</a:t>
            </a:r>
          </a:p>
        </p:txBody>
      </p:sp>
      <p:sp>
        <p:nvSpPr>
          <p:cNvPr id="9" name="Right Triangle 8"/>
          <p:cNvSpPr/>
          <p:nvPr/>
        </p:nvSpPr>
        <p:spPr>
          <a:xfrm rot="10800000">
            <a:off x="621792" y="1600200"/>
            <a:ext cx="182880" cy="182880"/>
          </a:xfrm>
          <a:prstGeom prst="rtTriangle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8600" y="1554480"/>
            <a:ext cx="411480" cy="41148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200400"/>
            <a:ext cx="10515600" cy="29260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Aluno(s):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[Nome do Aluno / Lista da Turma]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11539728" y="5806440"/>
            <a:ext cx="182880" cy="182880"/>
          </a:xfrm>
          <a:prstGeom prst="rtTriangle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4360" y="3291840"/>
            <a:ext cx="411480" cy="41148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BUBBLE CHAT EDITION 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Aquecimento / Warm-up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Foco 100% na Fala (3 Minutos)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62179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Provocativa Rápida: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[Insira aqui a pergunta provocativa de aquecimento]</a:t>
            </a:r>
          </a:p>
        </p:txBody>
      </p:sp>
      <p:sp>
        <p:nvSpPr>
          <p:cNvPr id="9" name="Right Triangle 8"/>
          <p:cNvSpPr/>
          <p:nvPr/>
        </p:nvSpPr>
        <p:spPr>
          <a:xfrm rot="10800000">
            <a:off x="621792" y="1508760"/>
            <a:ext cx="182880" cy="182880"/>
          </a:xfrm>
          <a:prstGeom prst="rtTriangle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6217920" cy="21031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🎙️ Áudio Neurocognitivo: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Ativa o córtex pré-frontal e reduz a inibição linguística inicial.</a:t>
            </a:r>
          </a:p>
        </p:txBody>
      </p:sp>
      <p:sp>
        <p:nvSpPr>
          <p:cNvPr id="11" name="Right Triangle 10"/>
          <p:cNvSpPr/>
          <p:nvPr/>
        </p:nvSpPr>
        <p:spPr>
          <a:xfrm rot="10800000">
            <a:off x="621792" y="4069080"/>
            <a:ext cx="182880" cy="182880"/>
          </a:xfrm>
          <a:prstGeom prst="rtTriangle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0" y="1371600"/>
            <a:ext cx="4389120" cy="466344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📷 [Imagem de Aquecimento]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BUBBLE CHAT EDITION 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Objetivos da Aula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📌 Mensagens Fixadas da Aula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6583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Metas da Aula: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[Objetivo 1]</a:t>
            </a:r>
            <a:br/>
            <a:r>
              <a:t>• [Objetivo 2]</a:t>
            </a:r>
            <a:br/>
            <a:r>
              <a:t>• [Objetivo 3]</a:t>
            </a:r>
          </a:p>
        </p:txBody>
      </p:sp>
      <p:sp>
        <p:nvSpPr>
          <p:cNvPr id="9" name="Right Triangle 8"/>
          <p:cNvSpPr/>
          <p:nvPr/>
        </p:nvSpPr>
        <p:spPr>
          <a:xfrm rot="10800000">
            <a:off x="621792" y="1508760"/>
            <a:ext cx="182880" cy="182880"/>
          </a:xfrm>
          <a:prstGeom prst="rtTriangle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89520" y="1371600"/>
            <a:ext cx="4114800" cy="475488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 de Escrita: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Nesta aula daremos atenção à escrita para reforçar a memorização de estruturas/vocabulário e reduzir a interferência da língua materna.</a:t>
            </a:r>
          </a:p>
        </p:txBody>
      </p:sp>
      <p:sp>
        <p:nvSpPr>
          <p:cNvPr id="11" name="Right Triangle 10"/>
          <p:cNvSpPr/>
          <p:nvPr/>
        </p:nvSpPr>
        <p:spPr>
          <a:xfrm>
            <a:off x="11631168" y="5806440"/>
            <a:ext cx="182880" cy="182880"/>
          </a:xfrm>
          <a:prstGeom prst="rtTriangle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BUBBLE CHAT EDITION 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 Nossa Metodologia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Thread de Aprendizado Haas Language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303520" cy="21945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1. Fala Ativa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Conversação inicial sem julgamentos.</a:t>
            </a:r>
          </a:p>
        </p:txBody>
      </p:sp>
      <p:sp>
        <p:nvSpPr>
          <p:cNvPr id="9" name="Right Triangle 8"/>
          <p:cNvSpPr/>
          <p:nvPr/>
        </p:nvSpPr>
        <p:spPr>
          <a:xfrm rot="10800000">
            <a:off x="621792" y="1508760"/>
            <a:ext cx="182880" cy="182880"/>
          </a:xfrm>
          <a:prstGeom prst="rtTriangle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86400" cy="2194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2. Exposição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Apresentação leve da gramática.</a:t>
            </a:r>
          </a:p>
        </p:txBody>
      </p:sp>
      <p:sp>
        <p:nvSpPr>
          <p:cNvPr id="11" name="Right Triangle 10"/>
          <p:cNvSpPr/>
          <p:nvPr/>
        </p:nvSpPr>
        <p:spPr>
          <a:xfrm>
            <a:off x="11631168" y="3246120"/>
            <a:ext cx="182880" cy="182880"/>
          </a:xfrm>
          <a:prstGeom prst="rtTriangle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3474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3. Prática Guiada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Exercícios com suporte.</a:t>
            </a:r>
          </a:p>
        </p:txBody>
      </p:sp>
      <p:sp>
        <p:nvSpPr>
          <p:cNvPr id="13" name="Right Triangle 12"/>
          <p:cNvSpPr/>
          <p:nvPr/>
        </p:nvSpPr>
        <p:spPr>
          <a:xfrm rot="10800000">
            <a:off x="621792" y="3977640"/>
            <a:ext cx="182880" cy="182880"/>
          </a:xfrm>
          <a:prstGeom prst="rtTriangle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840480"/>
            <a:ext cx="3657600" cy="2194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4. Conversação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Aplicação prática das estruturas.</a:t>
            </a:r>
          </a:p>
        </p:txBody>
      </p:sp>
      <p:sp>
        <p:nvSpPr>
          <p:cNvPr id="15" name="Right Triangle 14"/>
          <p:cNvSpPr/>
          <p:nvPr/>
        </p:nvSpPr>
        <p:spPr>
          <a:xfrm rot="10800000">
            <a:off x="4279392" y="3977640"/>
            <a:ext cx="182880" cy="182880"/>
          </a:xfrm>
          <a:prstGeom prst="rtTriangle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0" y="3840480"/>
            <a:ext cx="3474720" cy="21945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5. Escrita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Consolidação e redução de tradução.</a:t>
            </a:r>
          </a:p>
        </p:txBody>
      </p:sp>
      <p:sp>
        <p:nvSpPr>
          <p:cNvPr id="17" name="Right Triangle 16"/>
          <p:cNvSpPr/>
          <p:nvPr/>
        </p:nvSpPr>
        <p:spPr>
          <a:xfrm>
            <a:off x="11631168" y="5715000"/>
            <a:ext cx="182880" cy="182880"/>
          </a:xfrm>
          <a:prstGeom prst="rtTriangle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BUBBLE CHAT EDITION 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6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68580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Conceito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1]</a:t>
            </a:r>
          </a:p>
        </p:txBody>
      </p:sp>
      <p:sp>
        <p:nvSpPr>
          <p:cNvPr id="8" name="Right Triangle 7"/>
          <p:cNvSpPr/>
          <p:nvPr/>
        </p:nvSpPr>
        <p:spPr>
          <a:xfrm rot="10800000">
            <a:off x="621792" y="1508760"/>
            <a:ext cx="182880" cy="182880"/>
          </a:xfrm>
          <a:prstGeom prst="rtTriangle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0" y="1371600"/>
            <a:ext cx="3931920" cy="22860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11631168" y="3337560"/>
            <a:ext cx="182880" cy="182880"/>
          </a:xfrm>
          <a:prstGeom prst="rtTriangle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0" y="3840480"/>
            <a:ext cx="3931920" cy="22860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contexto]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11631168" y="5806440"/>
            <a:ext cx="182880" cy="182880"/>
          </a:xfrm>
          <a:prstGeom prst="rtTriangle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BUBBLE CHAT EDITION 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68580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Conceito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2]</a:t>
            </a:r>
          </a:p>
        </p:txBody>
      </p:sp>
      <p:sp>
        <p:nvSpPr>
          <p:cNvPr id="8" name="Right Triangle 7"/>
          <p:cNvSpPr/>
          <p:nvPr/>
        </p:nvSpPr>
        <p:spPr>
          <a:xfrm rot="10800000">
            <a:off x="621792" y="1508760"/>
            <a:ext cx="182880" cy="182880"/>
          </a:xfrm>
          <a:prstGeom prst="rtTriangle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0" y="1371600"/>
            <a:ext cx="3931920" cy="22860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11631168" y="3337560"/>
            <a:ext cx="182880" cy="182880"/>
          </a:xfrm>
          <a:prstGeom prst="rtTriangle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0" y="3840480"/>
            <a:ext cx="3931920" cy="22860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contexto]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11631168" y="5806440"/>
            <a:ext cx="182880" cy="182880"/>
          </a:xfrm>
          <a:prstGeom prst="rtTriangle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BUBBLE CHAT EDITION 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68580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Conceito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3]</a:t>
            </a:r>
          </a:p>
        </p:txBody>
      </p:sp>
      <p:sp>
        <p:nvSpPr>
          <p:cNvPr id="8" name="Right Triangle 7"/>
          <p:cNvSpPr/>
          <p:nvPr/>
        </p:nvSpPr>
        <p:spPr>
          <a:xfrm rot="10800000">
            <a:off x="621792" y="1508760"/>
            <a:ext cx="182880" cy="182880"/>
          </a:xfrm>
          <a:prstGeom prst="rtTriangle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0" y="1371600"/>
            <a:ext cx="3931920" cy="22860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11631168" y="3337560"/>
            <a:ext cx="182880" cy="182880"/>
          </a:xfrm>
          <a:prstGeom prst="rtTriangle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0" y="3840480"/>
            <a:ext cx="3931920" cy="22860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contexto]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11631168" y="5806440"/>
            <a:ext cx="182880" cy="182880"/>
          </a:xfrm>
          <a:prstGeom prst="rtTriangle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BUBBLE CHAT EDITION 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Síntese do Conteúdo &amp; Sugestão Cultural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486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Resumo do Tema: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[Resumo sintético dos pontos chave ensinados na aula]</a:t>
            </a:r>
          </a:p>
        </p:txBody>
      </p:sp>
      <p:sp>
        <p:nvSpPr>
          <p:cNvPr id="8" name="Right Triangle 7"/>
          <p:cNvSpPr/>
          <p:nvPr/>
        </p:nvSpPr>
        <p:spPr>
          <a:xfrm rot="10800000">
            <a:off x="621792" y="1508760"/>
            <a:ext cx="182880" cy="182880"/>
          </a:xfrm>
          <a:prstGeom prst="rtTriangle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371600"/>
            <a:ext cx="5212080" cy="47548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🎵 Mídia Cultural Encodada: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[Nome da Música / Vídeo recomendado sobre o assunto].</a:t>
            </a:r>
            <a:br/>
            <a:br/>
            <a:r>
              <a:t>O professor pode rodar o áudio/vídeo ou deixar como recomendação extra para o aluno praticar.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11631168" y="5806440"/>
            <a:ext cx="182880" cy="182880"/>
          </a:xfrm>
          <a:prstGeom prst="rtTriangle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BUBBLE CHAT EDITION 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10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Prática Guiada — Blocos 1 a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Correção de Vícios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09728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502920" cy="3200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51760"/>
            <a:ext cx="5486400" cy="16459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09728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761488"/>
            <a:ext cx="50292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51760"/>
            <a:ext cx="5486400" cy="16459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09728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[Preenchimento direto de verbos]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7648" y="2761488"/>
            <a:ext cx="50292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480560"/>
            <a:ext cx="5486400" cy="17373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09728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590288"/>
            <a:ext cx="502920" cy="3200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480560"/>
            <a:ext cx="5486400" cy="17373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09728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4590288"/>
            <a:ext cx="502920" cy="3200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BUBBLE CHAT EDITION 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11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Prática Guiada — Blocos 6 a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Desafios Práticos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09728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[Preposição / Conector correto]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50292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51760"/>
            <a:ext cx="5486400" cy="16459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09728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[Escolha da opção correta]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761488"/>
            <a:ext cx="502920" cy="3200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51760"/>
            <a:ext cx="5486400" cy="16459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09728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[Substituição por sinônimo formal]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7648" y="2761488"/>
            <a:ext cx="502920" cy="3200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480560"/>
            <a:ext cx="5486400" cy="17373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09728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[Identificação de erro e correção]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590288"/>
            <a:ext cx="50292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480560"/>
            <a:ext cx="5486400" cy="17373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09728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[Tradução de sentido sem uso literal]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4590288"/>
            <a:ext cx="50292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BUBBLE CHAT EDITION 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12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Thread de Pergunta 1 de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9728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Pergunta 1: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9" name="Right Triangle 8"/>
          <p:cNvSpPr/>
          <p:nvPr/>
        </p:nvSpPr>
        <p:spPr>
          <a:xfrm rot="10800000">
            <a:off x="621792" y="1508760"/>
            <a:ext cx="182880" cy="182880"/>
          </a:xfrm>
          <a:prstGeom prst="rtTriangle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8600" y="1463040"/>
            <a:ext cx="411480" cy="41148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0972800" cy="21031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💡 Dicas de Apoio para a Resposta: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11631168" y="5806440"/>
            <a:ext cx="182880" cy="182880"/>
          </a:xfrm>
          <a:prstGeom prst="rtTriangle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BUBBLE CHAT EDITION 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13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Thread de Pergunta 2 de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9728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2: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9" name="Right Triangle 8"/>
          <p:cNvSpPr/>
          <p:nvPr/>
        </p:nvSpPr>
        <p:spPr>
          <a:xfrm rot="10800000">
            <a:off x="621792" y="1508760"/>
            <a:ext cx="182880" cy="182880"/>
          </a:xfrm>
          <a:prstGeom prst="rtTriangle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8600" y="1463040"/>
            <a:ext cx="411480" cy="41148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20440"/>
            <a:ext cx="10972800" cy="123444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💡 Dicas de Apoio: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11631168" y="4434840"/>
            <a:ext cx="182880" cy="182880"/>
          </a:xfrm>
          <a:prstGeom prst="rtTriangle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4937760"/>
            <a:ext cx="11247120" cy="12801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💬 Q1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[Pergunta principal 1 sobre ...</a:t>
            </a:r>
          </a:p>
        </p:txBody>
      </p:sp>
      <p:sp>
        <p:nvSpPr>
          <p:cNvPr id="14" name="Right Triangle 13"/>
          <p:cNvSpPr/>
          <p:nvPr/>
        </p:nvSpPr>
        <p:spPr>
          <a:xfrm rot="10800000">
            <a:off x="347472" y="5074920"/>
            <a:ext cx="182880" cy="182880"/>
          </a:xfrm>
          <a:prstGeom prst="rtTriangle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BUBBLE CHAT EDITION 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14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Thread de Pergunta 3 de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9728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3: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9" name="Right Triangle 8"/>
          <p:cNvSpPr/>
          <p:nvPr/>
        </p:nvSpPr>
        <p:spPr>
          <a:xfrm rot="10800000">
            <a:off x="621792" y="1508760"/>
            <a:ext cx="182880" cy="182880"/>
          </a:xfrm>
          <a:prstGeom prst="rtTriangle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8600" y="1463040"/>
            <a:ext cx="411480" cy="41148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20440"/>
            <a:ext cx="10972800" cy="123444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💡 Dicas de Apoio: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11631168" y="4434840"/>
            <a:ext cx="182880" cy="182880"/>
          </a:xfrm>
          <a:prstGeom prst="rtTriangle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4937760"/>
            <a:ext cx="5568696" cy="12801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💬 Q1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[Pergunta principal 1 sobre ...</a:t>
            </a:r>
          </a:p>
        </p:txBody>
      </p:sp>
      <p:sp>
        <p:nvSpPr>
          <p:cNvPr id="14" name="Right Triangle 13"/>
          <p:cNvSpPr/>
          <p:nvPr/>
        </p:nvSpPr>
        <p:spPr>
          <a:xfrm rot="10800000">
            <a:off x="347472" y="5074920"/>
            <a:ext cx="182880" cy="182880"/>
          </a:xfrm>
          <a:prstGeom prst="rtTriangle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35624" y="4937760"/>
            <a:ext cx="5568696" cy="12801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💬 Q2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[Pergunta principal 2 sobre ...</a:t>
            </a:r>
          </a:p>
        </p:txBody>
      </p:sp>
      <p:sp>
        <p:nvSpPr>
          <p:cNvPr id="16" name="Right Triangle 15"/>
          <p:cNvSpPr/>
          <p:nvPr/>
        </p:nvSpPr>
        <p:spPr>
          <a:xfrm rot="10800000">
            <a:off x="6025896" y="5074920"/>
            <a:ext cx="182880" cy="182880"/>
          </a:xfrm>
          <a:prstGeom prst="rtTriangle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BUBBLE CHAT EDITION 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15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Thread de Pergunta 4 de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9728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4: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9" name="Right Triangle 8"/>
          <p:cNvSpPr/>
          <p:nvPr/>
        </p:nvSpPr>
        <p:spPr>
          <a:xfrm rot="10800000">
            <a:off x="621792" y="1508760"/>
            <a:ext cx="182880" cy="182880"/>
          </a:xfrm>
          <a:prstGeom prst="rtTriangle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8600" y="1463040"/>
            <a:ext cx="411480" cy="41148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20440"/>
            <a:ext cx="10972800" cy="123444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💡 Dicas de Apoio: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11631168" y="4434840"/>
            <a:ext cx="182880" cy="182880"/>
          </a:xfrm>
          <a:prstGeom prst="rtTriangle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4937760"/>
            <a:ext cx="3675888" cy="12801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💬 Q1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[Pergunta principal 1 sobre ...</a:t>
            </a:r>
          </a:p>
        </p:txBody>
      </p:sp>
      <p:sp>
        <p:nvSpPr>
          <p:cNvPr id="14" name="Right Triangle 13"/>
          <p:cNvSpPr/>
          <p:nvPr/>
        </p:nvSpPr>
        <p:spPr>
          <a:xfrm rot="10800000">
            <a:off x="347472" y="5074920"/>
            <a:ext cx="182880" cy="182880"/>
          </a:xfrm>
          <a:prstGeom prst="rtTriangle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42816" y="4937760"/>
            <a:ext cx="3675888" cy="12801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💬 Q2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[Pergunta principal 2 sobre ...</a:t>
            </a:r>
          </a:p>
        </p:txBody>
      </p:sp>
      <p:sp>
        <p:nvSpPr>
          <p:cNvPr id="16" name="Right Triangle 15"/>
          <p:cNvSpPr/>
          <p:nvPr/>
        </p:nvSpPr>
        <p:spPr>
          <a:xfrm rot="10800000">
            <a:off x="4133088" y="5074920"/>
            <a:ext cx="182880" cy="182880"/>
          </a:xfrm>
          <a:prstGeom prst="rtTriangle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28432" y="4937760"/>
            <a:ext cx="3675888" cy="12801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💬 Q3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[Pergunta principal 3 sobre ...</a:t>
            </a:r>
          </a:p>
        </p:txBody>
      </p:sp>
      <p:sp>
        <p:nvSpPr>
          <p:cNvPr id="18" name="Right Triangle 17"/>
          <p:cNvSpPr/>
          <p:nvPr/>
        </p:nvSpPr>
        <p:spPr>
          <a:xfrm rot="10800000">
            <a:off x="7918704" y="5074920"/>
            <a:ext cx="182880" cy="182880"/>
          </a:xfrm>
          <a:prstGeom prst="rtTriangle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BUBBLE CHAT EDITION 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16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Thread de Pergunta 5 de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9728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5: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9" name="Right Triangle 8"/>
          <p:cNvSpPr/>
          <p:nvPr/>
        </p:nvSpPr>
        <p:spPr>
          <a:xfrm rot="10800000">
            <a:off x="621792" y="1508760"/>
            <a:ext cx="182880" cy="182880"/>
          </a:xfrm>
          <a:prstGeom prst="rtTriangle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8600" y="1463040"/>
            <a:ext cx="411480" cy="41148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20440"/>
            <a:ext cx="10972800" cy="123444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💡 Dicas de Apoio: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11631168" y="4434840"/>
            <a:ext cx="182880" cy="182880"/>
          </a:xfrm>
          <a:prstGeom prst="rtTriangle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4937760"/>
            <a:ext cx="2729484" cy="12801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💬 Q1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1 sobre ...</a:t>
            </a:r>
          </a:p>
        </p:txBody>
      </p:sp>
      <p:sp>
        <p:nvSpPr>
          <p:cNvPr id="14" name="Right Triangle 13"/>
          <p:cNvSpPr/>
          <p:nvPr/>
        </p:nvSpPr>
        <p:spPr>
          <a:xfrm rot="10800000">
            <a:off x="347472" y="5074920"/>
            <a:ext cx="182880" cy="182880"/>
          </a:xfrm>
          <a:prstGeom prst="rtTriangle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96412" y="4937760"/>
            <a:ext cx="2729484" cy="12801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💬 Q2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2 sobre ...</a:t>
            </a:r>
          </a:p>
        </p:txBody>
      </p:sp>
      <p:sp>
        <p:nvSpPr>
          <p:cNvPr id="16" name="Right Triangle 15"/>
          <p:cNvSpPr/>
          <p:nvPr/>
        </p:nvSpPr>
        <p:spPr>
          <a:xfrm rot="10800000">
            <a:off x="3186684" y="5074920"/>
            <a:ext cx="182880" cy="182880"/>
          </a:xfrm>
          <a:prstGeom prst="rtTriangle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35624" y="4937760"/>
            <a:ext cx="2729484" cy="12801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💬 Q3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3 sobre ...</a:t>
            </a:r>
          </a:p>
        </p:txBody>
      </p:sp>
      <p:sp>
        <p:nvSpPr>
          <p:cNvPr id="18" name="Right Triangle 17"/>
          <p:cNvSpPr/>
          <p:nvPr/>
        </p:nvSpPr>
        <p:spPr>
          <a:xfrm rot="10800000">
            <a:off x="6025896" y="5074920"/>
            <a:ext cx="182880" cy="182880"/>
          </a:xfrm>
          <a:prstGeom prst="rtTriangle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74836" y="4937760"/>
            <a:ext cx="2729484" cy="12801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💬 Q4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4 sobre ...</a:t>
            </a:r>
          </a:p>
        </p:txBody>
      </p:sp>
      <p:sp>
        <p:nvSpPr>
          <p:cNvPr id="20" name="Right Triangle 19"/>
          <p:cNvSpPr/>
          <p:nvPr/>
        </p:nvSpPr>
        <p:spPr>
          <a:xfrm rot="10800000">
            <a:off x="8865108" y="5074920"/>
            <a:ext cx="182880" cy="182880"/>
          </a:xfrm>
          <a:prstGeom prst="rtTriangle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BUBBLE CHAT EDITION 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17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Thread de Pergunta 6 de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9728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6: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9" name="Right Triangle 8"/>
          <p:cNvSpPr/>
          <p:nvPr/>
        </p:nvSpPr>
        <p:spPr>
          <a:xfrm rot="10800000">
            <a:off x="621792" y="1508760"/>
            <a:ext cx="182880" cy="182880"/>
          </a:xfrm>
          <a:prstGeom prst="rtTriangle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8600" y="1463040"/>
            <a:ext cx="411480" cy="41148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20440"/>
            <a:ext cx="10972800" cy="123444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💡 Dicas de Apoio: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11631168" y="4434840"/>
            <a:ext cx="182880" cy="182880"/>
          </a:xfrm>
          <a:prstGeom prst="rtTriangle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4937760"/>
            <a:ext cx="2161641" cy="12801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💬 Q1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1 sobre ...</a:t>
            </a:r>
          </a:p>
        </p:txBody>
      </p:sp>
      <p:sp>
        <p:nvSpPr>
          <p:cNvPr id="14" name="Right Triangle 13"/>
          <p:cNvSpPr/>
          <p:nvPr/>
        </p:nvSpPr>
        <p:spPr>
          <a:xfrm rot="10800000">
            <a:off x="347472" y="5074920"/>
            <a:ext cx="182880" cy="182880"/>
          </a:xfrm>
          <a:prstGeom prst="rtTriangle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28569" y="4937760"/>
            <a:ext cx="2161641" cy="12801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💬 Q2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2 sobre ...</a:t>
            </a:r>
          </a:p>
        </p:txBody>
      </p:sp>
      <p:sp>
        <p:nvSpPr>
          <p:cNvPr id="16" name="Right Triangle 15"/>
          <p:cNvSpPr/>
          <p:nvPr/>
        </p:nvSpPr>
        <p:spPr>
          <a:xfrm rot="10800000">
            <a:off x="2618841" y="5074920"/>
            <a:ext cx="182880" cy="182880"/>
          </a:xfrm>
          <a:prstGeom prst="rtTriangle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999939" y="4937760"/>
            <a:ext cx="2161641" cy="12801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💬 Q3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3 sobre ...</a:t>
            </a:r>
          </a:p>
        </p:txBody>
      </p:sp>
      <p:sp>
        <p:nvSpPr>
          <p:cNvPr id="18" name="Right Triangle 17"/>
          <p:cNvSpPr/>
          <p:nvPr/>
        </p:nvSpPr>
        <p:spPr>
          <a:xfrm rot="10800000">
            <a:off x="4890211" y="5074920"/>
            <a:ext cx="182880" cy="182880"/>
          </a:xfrm>
          <a:prstGeom prst="rtTriangle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71308" y="4937760"/>
            <a:ext cx="2161641" cy="12801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💬 Q4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4 sobre ...</a:t>
            </a:r>
          </a:p>
        </p:txBody>
      </p:sp>
      <p:sp>
        <p:nvSpPr>
          <p:cNvPr id="20" name="Right Triangle 19"/>
          <p:cNvSpPr/>
          <p:nvPr/>
        </p:nvSpPr>
        <p:spPr>
          <a:xfrm rot="10800000">
            <a:off x="7161580" y="5074920"/>
            <a:ext cx="182880" cy="182880"/>
          </a:xfrm>
          <a:prstGeom prst="rtTriangle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42678" y="4937760"/>
            <a:ext cx="2161641" cy="12801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💬 Q5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5 sobre ...</a:t>
            </a:r>
          </a:p>
        </p:txBody>
      </p:sp>
      <p:sp>
        <p:nvSpPr>
          <p:cNvPr id="22" name="Right Triangle 21"/>
          <p:cNvSpPr/>
          <p:nvPr/>
        </p:nvSpPr>
        <p:spPr>
          <a:xfrm rot="10800000">
            <a:off x="9432950" y="5074920"/>
            <a:ext cx="182880" cy="182880"/>
          </a:xfrm>
          <a:prstGeom prst="rtTriangle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BUBBLE CHAT EDITION 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18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Thread de Pergunta 7 de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9728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7: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[Pergunta principal 7 sobre o tema]</a:t>
            </a:r>
          </a:p>
        </p:txBody>
      </p:sp>
      <p:sp>
        <p:nvSpPr>
          <p:cNvPr id="9" name="Right Triangle 8"/>
          <p:cNvSpPr/>
          <p:nvPr/>
        </p:nvSpPr>
        <p:spPr>
          <a:xfrm rot="10800000">
            <a:off x="621792" y="1508760"/>
            <a:ext cx="182880" cy="182880"/>
          </a:xfrm>
          <a:prstGeom prst="rtTriangle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8600" y="1463040"/>
            <a:ext cx="411480" cy="41148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20440"/>
            <a:ext cx="10972800" cy="123444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💡 Dicas de Apoio: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11631168" y="4434840"/>
            <a:ext cx="182880" cy="182880"/>
          </a:xfrm>
          <a:prstGeom prst="rtTriangle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4937760"/>
            <a:ext cx="1783080" cy="12801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💬 Q1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1 sobre ...</a:t>
            </a:r>
          </a:p>
        </p:txBody>
      </p:sp>
      <p:sp>
        <p:nvSpPr>
          <p:cNvPr id="14" name="Right Triangle 13"/>
          <p:cNvSpPr/>
          <p:nvPr/>
        </p:nvSpPr>
        <p:spPr>
          <a:xfrm rot="10800000">
            <a:off x="347472" y="5074920"/>
            <a:ext cx="182880" cy="182880"/>
          </a:xfrm>
          <a:prstGeom prst="rtTriangle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50008" y="4937760"/>
            <a:ext cx="1783080" cy="12801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💬 Q2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2 sobre ...</a:t>
            </a:r>
          </a:p>
        </p:txBody>
      </p:sp>
      <p:sp>
        <p:nvSpPr>
          <p:cNvPr id="16" name="Right Triangle 15"/>
          <p:cNvSpPr/>
          <p:nvPr/>
        </p:nvSpPr>
        <p:spPr>
          <a:xfrm rot="10800000">
            <a:off x="2240280" y="5074920"/>
            <a:ext cx="182880" cy="182880"/>
          </a:xfrm>
          <a:prstGeom prst="rtTriangle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42816" y="4937760"/>
            <a:ext cx="1783080" cy="12801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💬 Q3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3 sobre ...</a:t>
            </a:r>
          </a:p>
        </p:txBody>
      </p:sp>
      <p:sp>
        <p:nvSpPr>
          <p:cNvPr id="18" name="Right Triangle 17"/>
          <p:cNvSpPr/>
          <p:nvPr/>
        </p:nvSpPr>
        <p:spPr>
          <a:xfrm rot="10800000">
            <a:off x="4133088" y="5074920"/>
            <a:ext cx="182880" cy="182880"/>
          </a:xfrm>
          <a:prstGeom prst="rtTriangle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35624" y="4937760"/>
            <a:ext cx="1783080" cy="12801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💬 Q4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4 sobre ...</a:t>
            </a:r>
          </a:p>
        </p:txBody>
      </p:sp>
      <p:sp>
        <p:nvSpPr>
          <p:cNvPr id="20" name="Right Triangle 19"/>
          <p:cNvSpPr/>
          <p:nvPr/>
        </p:nvSpPr>
        <p:spPr>
          <a:xfrm rot="10800000">
            <a:off x="6025896" y="5074920"/>
            <a:ext cx="182880" cy="182880"/>
          </a:xfrm>
          <a:prstGeom prst="rtTriangle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28432" y="4937760"/>
            <a:ext cx="1783080" cy="12801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💬 Q5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5 sobre ...</a:t>
            </a:r>
          </a:p>
        </p:txBody>
      </p:sp>
      <p:sp>
        <p:nvSpPr>
          <p:cNvPr id="22" name="Right Triangle 21"/>
          <p:cNvSpPr/>
          <p:nvPr/>
        </p:nvSpPr>
        <p:spPr>
          <a:xfrm rot="10800000">
            <a:off x="7918704" y="5074920"/>
            <a:ext cx="182880" cy="182880"/>
          </a:xfrm>
          <a:prstGeom prst="rtTriangle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21240" y="4937760"/>
            <a:ext cx="1783080" cy="12801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💬 Q6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6 sobre ...</a:t>
            </a:r>
          </a:p>
        </p:txBody>
      </p:sp>
      <p:sp>
        <p:nvSpPr>
          <p:cNvPr id="24" name="Right Triangle 23"/>
          <p:cNvSpPr/>
          <p:nvPr/>
        </p:nvSpPr>
        <p:spPr>
          <a:xfrm rot="10800000">
            <a:off x="9811512" y="5074920"/>
            <a:ext cx="182880" cy="182880"/>
          </a:xfrm>
          <a:prstGeom prst="rtTriangle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BUBBLE CHAT EDITION 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19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Thread de Pergunta 8 de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9728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8: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[Pergunta principal 8 sobre o tema]</a:t>
            </a:r>
          </a:p>
        </p:txBody>
      </p:sp>
      <p:sp>
        <p:nvSpPr>
          <p:cNvPr id="9" name="Right Triangle 8"/>
          <p:cNvSpPr/>
          <p:nvPr/>
        </p:nvSpPr>
        <p:spPr>
          <a:xfrm rot="10800000">
            <a:off x="621792" y="1508760"/>
            <a:ext cx="182880" cy="182880"/>
          </a:xfrm>
          <a:prstGeom prst="rtTriangle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8600" y="1463040"/>
            <a:ext cx="411480" cy="41148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20440"/>
            <a:ext cx="10972800" cy="123444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💡 Dicas de Apoio: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11631168" y="4434840"/>
            <a:ext cx="182880" cy="182880"/>
          </a:xfrm>
          <a:prstGeom prst="rtTriangle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4937760"/>
            <a:ext cx="1512678" cy="12801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💬 Q1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1 sobre ...</a:t>
            </a:r>
          </a:p>
        </p:txBody>
      </p:sp>
      <p:sp>
        <p:nvSpPr>
          <p:cNvPr id="14" name="Right Triangle 13"/>
          <p:cNvSpPr/>
          <p:nvPr/>
        </p:nvSpPr>
        <p:spPr>
          <a:xfrm rot="10800000">
            <a:off x="347472" y="5074920"/>
            <a:ext cx="182880" cy="182880"/>
          </a:xfrm>
          <a:prstGeom prst="rtTriangle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079606" y="4937760"/>
            <a:ext cx="1512678" cy="12801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💬 Q2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2 sobre ...</a:t>
            </a:r>
          </a:p>
        </p:txBody>
      </p:sp>
      <p:sp>
        <p:nvSpPr>
          <p:cNvPr id="16" name="Right Triangle 15"/>
          <p:cNvSpPr/>
          <p:nvPr/>
        </p:nvSpPr>
        <p:spPr>
          <a:xfrm rot="10800000">
            <a:off x="1969878" y="5074920"/>
            <a:ext cx="182880" cy="182880"/>
          </a:xfrm>
          <a:prstGeom prst="rtTriangle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02013" y="4937760"/>
            <a:ext cx="1512678" cy="12801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💬 Q3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3 sobre ...</a:t>
            </a:r>
          </a:p>
        </p:txBody>
      </p:sp>
      <p:sp>
        <p:nvSpPr>
          <p:cNvPr id="18" name="Right Triangle 17"/>
          <p:cNvSpPr/>
          <p:nvPr/>
        </p:nvSpPr>
        <p:spPr>
          <a:xfrm rot="10800000">
            <a:off x="3592285" y="5074920"/>
            <a:ext cx="182880" cy="182880"/>
          </a:xfrm>
          <a:prstGeom prst="rtTriangle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24420" y="4937760"/>
            <a:ext cx="1512678" cy="12801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💬 Q4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4 sobre ...</a:t>
            </a:r>
          </a:p>
        </p:txBody>
      </p:sp>
      <p:sp>
        <p:nvSpPr>
          <p:cNvPr id="20" name="Right Triangle 19"/>
          <p:cNvSpPr/>
          <p:nvPr/>
        </p:nvSpPr>
        <p:spPr>
          <a:xfrm rot="10800000">
            <a:off x="5214692" y="5074920"/>
            <a:ext cx="182880" cy="182880"/>
          </a:xfrm>
          <a:prstGeom prst="rtTriangle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46827" y="4937760"/>
            <a:ext cx="1512678" cy="12801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💬 Q5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5 sobre ...</a:t>
            </a:r>
          </a:p>
        </p:txBody>
      </p:sp>
      <p:sp>
        <p:nvSpPr>
          <p:cNvPr id="22" name="Right Triangle 21"/>
          <p:cNvSpPr/>
          <p:nvPr/>
        </p:nvSpPr>
        <p:spPr>
          <a:xfrm rot="10800000">
            <a:off x="6837099" y="5074920"/>
            <a:ext cx="182880" cy="182880"/>
          </a:xfrm>
          <a:prstGeom prst="rtTriangle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69234" y="4937760"/>
            <a:ext cx="1512678" cy="12801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💬 Q6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6 sobre ...</a:t>
            </a:r>
          </a:p>
        </p:txBody>
      </p:sp>
      <p:sp>
        <p:nvSpPr>
          <p:cNvPr id="24" name="Right Triangle 23"/>
          <p:cNvSpPr/>
          <p:nvPr/>
        </p:nvSpPr>
        <p:spPr>
          <a:xfrm rot="10800000">
            <a:off x="8459506" y="5074920"/>
            <a:ext cx="182880" cy="182880"/>
          </a:xfrm>
          <a:prstGeom prst="rtTriangle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191641" y="4937760"/>
            <a:ext cx="1512678" cy="12801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💬 Q7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7 sobre ...</a:t>
            </a:r>
          </a:p>
        </p:txBody>
      </p:sp>
      <p:sp>
        <p:nvSpPr>
          <p:cNvPr id="26" name="Right Triangle 25"/>
          <p:cNvSpPr/>
          <p:nvPr/>
        </p:nvSpPr>
        <p:spPr>
          <a:xfrm rot="10800000">
            <a:off x="10081913" y="5074920"/>
            <a:ext cx="182880" cy="182880"/>
          </a:xfrm>
          <a:prstGeom prst="rtTriangle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BUBBLE CHAT EDITION 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20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Atividade de Escrita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Consolidação e Memorização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9728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Tarefa de Escrita Recomendada: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[Instrução detalhada da tarefa: escrever um texto, frases ou diálogo]</a:t>
            </a:r>
          </a:p>
        </p:txBody>
      </p:sp>
      <p:sp>
        <p:nvSpPr>
          <p:cNvPr id="9" name="Right Triangle 8"/>
          <p:cNvSpPr/>
          <p:nvPr/>
        </p:nvSpPr>
        <p:spPr>
          <a:xfrm rot="10800000">
            <a:off x="621792" y="1508760"/>
            <a:ext cx="182880" cy="182880"/>
          </a:xfrm>
          <a:prstGeom prst="rtTriangle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972800" cy="20116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Fundamentação: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Identificamos que a escrita nesta etapa é fundamental para você fixar as estruturas aprendidas, expandir vocabulário ativo e diminuir a tradução mental automática do seu idioma nativo.</a:t>
            </a:r>
          </a:p>
        </p:txBody>
      </p:sp>
      <p:sp>
        <p:nvSpPr>
          <p:cNvPr id="11" name="Right Triangle 10"/>
          <p:cNvSpPr/>
          <p:nvPr/>
        </p:nvSpPr>
        <p:spPr>
          <a:xfrm>
            <a:off x="11631168" y="5897880"/>
            <a:ext cx="182880" cy="182880"/>
          </a:xfrm>
          <a:prstGeom prst="rtTriangle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BUBBLE CHAT EDITION 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21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Encerramento — Tarefa de 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Ação e Prática Contínua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9728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Tarefa de Casa: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[Atividade prática 1 para realizar fora da aula]</a:t>
            </a:r>
            <a:br/>
            <a:r>
              <a:t>• [Atividade de fixação de vocabulário ou escuta]</a:t>
            </a:r>
          </a:p>
        </p:txBody>
      </p:sp>
      <p:sp>
        <p:nvSpPr>
          <p:cNvPr id="9" name="Right Triangle 8"/>
          <p:cNvSpPr/>
          <p:nvPr/>
        </p:nvSpPr>
        <p:spPr>
          <a:xfrm rot="10800000">
            <a:off x="621792" y="1508760"/>
            <a:ext cx="182880" cy="182880"/>
          </a:xfrm>
          <a:prstGeom prst="rtTriangle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BUBBLE CHAT EDITION 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SLIDE 22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Encerramento &amp; Feedback Rápido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Considerações Finais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972800" cy="18288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Agradecimento: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Obrigado pela dedicação na aula de hoje!</a:t>
            </a:r>
          </a:p>
        </p:txBody>
      </p:sp>
      <p:sp>
        <p:nvSpPr>
          <p:cNvPr id="9" name="Right Triangle 8"/>
          <p:cNvSpPr/>
          <p:nvPr/>
        </p:nvSpPr>
        <p:spPr>
          <a:xfrm rot="10800000">
            <a:off x="621792" y="1508760"/>
            <a:ext cx="182880" cy="182880"/>
          </a:xfrm>
          <a:prstGeom prst="rtTriangle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10972800" cy="26517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Espaço para Feedback Rápido: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[Espaço destinado para o professor coletar dúvidas rápidas e considerações do aluno]</a:t>
            </a:r>
          </a:p>
        </p:txBody>
      </p:sp>
      <p:sp>
        <p:nvSpPr>
          <p:cNvPr id="11" name="Right Triangle 10"/>
          <p:cNvSpPr/>
          <p:nvPr/>
        </p:nvSpPr>
        <p:spPr>
          <a:xfrm>
            <a:off x="11631168" y="5806440"/>
            <a:ext cx="182880" cy="182880"/>
          </a:xfrm>
          <a:prstGeom prst="rtTriangle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