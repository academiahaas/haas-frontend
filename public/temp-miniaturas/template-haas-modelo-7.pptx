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1645920" cy="635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0" y="164592"/>
            <a:ext cx="822960" cy="635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08960" y="164592"/>
            <a:ext cx="365760" cy="635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09728" cy="3200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AVANT-GARDE CUBIST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 / 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80160"/>
            <a:ext cx="5120640" cy="4846320"/>
          </a:xfrm>
          <a:prstGeom prst="roundRect">
            <a:avLst/>
          </a:prstGeom>
          <a:solidFill>
            <a:srgbClr val="EDE9FE"/>
          </a:solidFill>
          <a:ln w="254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de Capa / Arte Visual]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645920"/>
            <a:ext cx="5852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4F35E2"/>
                </a:solidFill>
              </a:defRPr>
            </a:pPr>
            <a:r>
              <a:t>[Título da Aula / Tema Principal]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338328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E3A8A"/>
                </a:solidFill>
              </a:defRPr>
            </a:pPr>
            <a:r>
              <a:t>[Subtítulo / Descrição da Aula]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4754880"/>
            <a:ext cx="5852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4C8B0"/>
                </a:solidFill>
              </a:defRPr>
            </a:pPr>
            <a:r>
              <a:t>📅 Data da Aula: [DD/MM/AAAA]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1645920" cy="635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0" y="164592"/>
            <a:ext cx="822960" cy="635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08960" y="164592"/>
            <a:ext cx="365760" cy="635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09728" cy="3200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AVANT-GARDE CUBIST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Presença &amp; Integrantes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47120" cy="13716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Professor(a):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[Nome do(a) Professor(a)]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09728" cy="13716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2926080"/>
            <a:ext cx="11247120" cy="329184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Aluno(s):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[Nome do Aluno / Lista da Turma]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926080"/>
            <a:ext cx="109728" cy="32918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1645920" cy="635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0" y="164592"/>
            <a:ext cx="822960" cy="635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08960" y="164592"/>
            <a:ext cx="365760" cy="635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09728" cy="3200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AVANT-GARDE CUBIST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3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Aquecimento / Warm-up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Foco 100% na Fala (3 Minutos)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4754880" cy="4846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[Imagem de Aquecimento]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371600"/>
            <a:ext cx="6217920" cy="29260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Pergunta Provocativa Rápida: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[Insira aqui a pergunta provocativa de aquecimento]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1371600"/>
            <a:ext cx="109728" cy="292608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0" y="4480560"/>
            <a:ext cx="6217920" cy="17373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Ativa o córtex pré-frontal e reduz a inibição linguística inicial.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4480560"/>
            <a:ext cx="109728" cy="173736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1645920" cy="635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0" y="164592"/>
            <a:ext cx="822960" cy="635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08960" y="164592"/>
            <a:ext cx="365760" cy="635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09728" cy="3200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AVANT-GARDE CUBIST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4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Objetivos da Aula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7315200" cy="4846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Metas da Aula: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• [Objetivo 1]</a:t>
            </a:r>
            <a:br/>
            <a:r>
              <a:t>• [Objetivo 2]</a:t>
            </a:r>
            <a:br/>
            <a:r>
              <a:t>• [Objetivo 3]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09728" cy="4846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657600" cy="4846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 de Escrita: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Nesta aula daremos atenção à escrita para reforçar a memorização de estruturas/vocabulário e reduzir a interferência da língua materna.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109728" cy="48463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1645920" cy="635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0" y="164592"/>
            <a:ext cx="822960" cy="635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08960" y="164592"/>
            <a:ext cx="365760" cy="635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09728" cy="3200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AVANT-GARDE CUBIST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5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 Nossa Metodologia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Estrutura Fixa de Aprendizado Haas Language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356616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1. Fala Ativa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Conversação inicial sem julgamentos.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09728" cy="22860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3566160" cy="22860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2. Exposição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Apresentação leve da gramática.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109728" cy="22860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38160" y="1371600"/>
            <a:ext cx="3566160" cy="2286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3. Prática Guiada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Exercícios com suporte do professor.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71600"/>
            <a:ext cx="109728" cy="22860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3840480"/>
            <a:ext cx="5486400" cy="237744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4. Conversação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Aplicação prática das estruturas em contexto real.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40480"/>
            <a:ext cx="109728" cy="23774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17920" y="3840480"/>
            <a:ext cx="5486400" cy="237744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5. Escrita</a:t>
            </a:r>
          </a:p>
          <a:p>
            <a:pPr>
              <a:spcBef>
                <a:spcPts val="600"/>
              </a:spcBef>
              <a:defRPr sz="1300">
                <a:solidFill>
                  <a:srgbClr val="334155"/>
                </a:solidFill>
              </a:defRPr>
            </a:pPr>
            <a:r>
              <a:t>Consolidação visual e redução de tradução automática.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840480"/>
            <a:ext cx="109728" cy="23774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1645920" cy="635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0" y="164592"/>
            <a:ext cx="822960" cy="635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08960" y="164592"/>
            <a:ext cx="365760" cy="635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09728" cy="3200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AVANT-GARDE CUBIST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6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3931920" cy="48463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09728" cy="484632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1371600"/>
            <a:ext cx="7132320" cy="4846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1]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371600"/>
            <a:ext cx="109728" cy="48463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1645920" cy="635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0" y="164592"/>
            <a:ext cx="822960" cy="635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08960" y="164592"/>
            <a:ext cx="365760" cy="635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09728" cy="3200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AVANT-GARDE CUBIST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7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3931920" cy="48463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09728" cy="484632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1371600"/>
            <a:ext cx="7132320" cy="4846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2]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371600"/>
            <a:ext cx="109728" cy="48463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1645920" cy="635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0" y="164592"/>
            <a:ext cx="822960" cy="635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08960" y="164592"/>
            <a:ext cx="365760" cy="635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09728" cy="3200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AVANT-GARDE CUBIST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8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Explicação do Tema — Parte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3931920" cy="48463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600" b="1">
                <a:solidFill>
                  <a:srgbClr val="4F35E2"/>
                </a:solidFill>
              </a:defRPr>
            </a:pPr>
            <a:r>
              <a:t>Notas &amp; Detalhes:</a:t>
            </a:r>
          </a:p>
          <a:p>
            <a:pPr>
              <a:spcBef>
                <a:spcPts val="600"/>
              </a:spcBef>
              <a:defRPr sz="1400">
                <a:solidFill>
                  <a:srgbClr val="334155"/>
                </a:solidFill>
              </a:defRPr>
            </a:pPr>
            <a:r>
              <a:t>[Exceções, nuances gramaticais e contexto de uso]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09728" cy="484632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0" y="1371600"/>
            <a:ext cx="7132320" cy="4846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Conteúdo Principal: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[Explicação e exemplo central da estrutura - Bloco 3]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371600"/>
            <a:ext cx="109728" cy="48463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1645920" cy="635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0" y="164592"/>
            <a:ext cx="822960" cy="635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08960" y="164592"/>
            <a:ext cx="365760" cy="635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09728" cy="3200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AVANT-GARDE CUBIST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9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Síntese do Conteúdo &amp; Sugestão Cultural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5486400" cy="4846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Resumo do Tema: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[Resumo sintético dos pontos chave ensinados na aula]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09728" cy="48463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486400" cy="484632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Sugestão Cultural: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🎵 [Nome da Música / Vídeo recomendado sobre o assunto].</a:t>
            </a:r>
            <a:br/>
            <a:br/>
            <a:r>
              <a:t>O professor pode rodar o áudio/vídeo ou deixar como recomendação extra para o aluno praticar.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109728" cy="484632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1645920" cy="635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0" y="164592"/>
            <a:ext cx="822960" cy="635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08960" y="164592"/>
            <a:ext cx="365760" cy="635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09728" cy="3200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AVANT-GARDE CUBIST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10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Exercícios 1 a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Correção de Vícios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481328"/>
            <a:ext cx="50292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51760"/>
            <a:ext cx="548640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[Lacunas contextualizadas com opções]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761488"/>
            <a:ext cx="50292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51760"/>
            <a:ext cx="548640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[Preenchimento direto de verbos]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2761488"/>
            <a:ext cx="50292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80560"/>
            <a:ext cx="5486400" cy="17373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9028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480560"/>
            <a:ext cx="5486400" cy="17373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[Reestruturação / Transformação de frase]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459028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1645920" cy="635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0" y="164592"/>
            <a:ext cx="822960" cy="635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08960" y="164592"/>
            <a:ext cx="365760" cy="635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09728" cy="3200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AVANT-GARDE CUBIST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Prática Guiada — Exercícios 6 a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Desafios Práticos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1247120" cy="10972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[Preposição / Conector correto]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481328"/>
            <a:ext cx="502920" cy="32004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51760"/>
            <a:ext cx="548640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[Escolha da opção correta]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761488"/>
            <a:ext cx="50292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651760"/>
            <a:ext cx="5486400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[Substituição por sinônimo formal]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27648" y="2761488"/>
            <a:ext cx="50292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480560"/>
            <a:ext cx="5486400" cy="17373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[Identificação de erro e correção]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90288"/>
            <a:ext cx="50292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480560"/>
            <a:ext cx="5486400" cy="173736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0" tIns="137160" rIns="182880" bIns="109728"/>
          <a:lstStyle/>
          <a:p>
            <a:pPr algn="ctr">
              <a:defRPr sz="1400" b="0">
                <a:solidFill>
                  <a:srgbClr val="334155"/>
                </a:solidFill>
              </a:defRPr>
            </a:pPr>
            <a:r>
              <a:t>[Tradução de sentido sem uso literal]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7648" y="4590288"/>
            <a:ext cx="502920" cy="32004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1645920" cy="635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0" y="164592"/>
            <a:ext cx="822960" cy="635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08960" y="164592"/>
            <a:ext cx="365760" cy="635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09728" cy="3200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AVANT-GARDE CUBIST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47120" cy="246888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800">
                <a:solidFill>
                  <a:srgbClr val="334155"/>
                </a:solidFill>
              </a:defRPr>
            </a:pPr>
            <a:r>
              <a:t>[Pergunta principal 1 sobre o tema]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09728" cy="246888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023360"/>
            <a:ext cx="11247120" cy="219456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5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023360"/>
            <a:ext cx="109728" cy="219456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1645920" cy="635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0" y="164592"/>
            <a:ext cx="822960" cy="635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08960" y="164592"/>
            <a:ext cx="365760" cy="635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09728" cy="3200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AVANT-GARDE CUBIST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13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1247120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40280"/>
            <a:ext cx="112471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2 sobre o tema]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40280"/>
            <a:ext cx="109728" cy="22860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63440"/>
            <a:ext cx="109728" cy="155448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1645920" cy="635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0" y="164592"/>
            <a:ext cx="822960" cy="635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08960" y="164592"/>
            <a:ext cx="365760" cy="635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09728" cy="3200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AVANT-GARDE CUBIST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14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5554980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49340" y="1371600"/>
            <a:ext cx="5554980" cy="685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40280"/>
            <a:ext cx="112471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3 sobre o tema]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40280"/>
            <a:ext cx="109728" cy="22860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663440"/>
            <a:ext cx="109728" cy="155448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1645920" cy="635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0" y="164592"/>
            <a:ext cx="822960" cy="635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08960" y="164592"/>
            <a:ext cx="365760" cy="635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09728" cy="3200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AVANT-GARDE CUBIST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15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3657600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371600"/>
            <a:ext cx="3657600" cy="685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657600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240280"/>
            <a:ext cx="112471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4 sobre o tema]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40280"/>
            <a:ext cx="109728" cy="22860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663440"/>
            <a:ext cx="109728" cy="155448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1645920" cy="635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0" y="164592"/>
            <a:ext cx="822960" cy="635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08960" y="164592"/>
            <a:ext cx="365760" cy="635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09728" cy="3200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AVANT-GARDE CUBIST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16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2708910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03270" y="1371600"/>
            <a:ext cx="2708910" cy="685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9340" y="1371600"/>
            <a:ext cx="2708910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5410" y="1371600"/>
            <a:ext cx="2708910" cy="685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240280"/>
            <a:ext cx="112471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5 sobre o tema]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240280"/>
            <a:ext cx="109728" cy="22860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663440"/>
            <a:ext cx="109728" cy="155448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1645920" cy="635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0" y="164592"/>
            <a:ext cx="822960" cy="635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08960" y="164592"/>
            <a:ext cx="365760" cy="635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09728" cy="3200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AVANT-GARDE CUBIST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17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2139696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34056" y="1371600"/>
            <a:ext cx="2139696" cy="685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10912" y="1371600"/>
            <a:ext cx="2139696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7768" y="1371600"/>
            <a:ext cx="2139696" cy="685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64624" y="1371600"/>
            <a:ext cx="2139696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240280"/>
            <a:ext cx="112471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6 sobre o tema]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40280"/>
            <a:ext cx="109728" cy="22860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663440"/>
            <a:ext cx="109728" cy="155448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1645920" cy="635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0" y="164592"/>
            <a:ext cx="822960" cy="635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08960" y="164592"/>
            <a:ext cx="365760" cy="635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09728" cy="3200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AVANT-GARDE CUBIST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18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760220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54580" y="1371600"/>
            <a:ext cx="1760220" cy="685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371600"/>
            <a:ext cx="1760220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49340" y="1371600"/>
            <a:ext cx="1760220" cy="685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1760220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944100" y="1371600"/>
            <a:ext cx="1760220" cy="685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40280"/>
            <a:ext cx="112471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7 sobre o tema]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240280"/>
            <a:ext cx="109728" cy="22860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663440"/>
            <a:ext cx="109728" cy="155448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1645920" cy="635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0" y="164592"/>
            <a:ext cx="822960" cy="635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08960" y="164592"/>
            <a:ext cx="365760" cy="635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09728" cy="3200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AVANT-GARDE CUBIST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19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Conversação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71600"/>
            <a:ext cx="1489165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83525" y="1371600"/>
            <a:ext cx="1489165" cy="685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9851" y="1371600"/>
            <a:ext cx="1489165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36177" y="1371600"/>
            <a:ext cx="1489165" cy="685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2502" y="1371600"/>
            <a:ext cx="1489165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88828" y="1371600"/>
            <a:ext cx="1489165" cy="685800"/>
          </a:xfrm>
          <a:prstGeom prst="roundRect">
            <a:avLst/>
          </a:prstGeom>
          <a:solidFill>
            <a:srgbClr val="E0F2F1"/>
          </a:solidFill>
          <a:ln w="1270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15154" y="1371600"/>
            <a:ext cx="1489165" cy="6858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900">
                <a:solidFill>
                  <a:srgbClr val="334155"/>
                </a:solidFill>
              </a:defRPr>
            </a:pPr>
            <a:r>
              <a:t>[Pergunta principal 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240280"/>
            <a:ext cx="11247120" cy="22860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700">
                <a:solidFill>
                  <a:srgbClr val="334155"/>
                </a:solidFill>
              </a:defRPr>
            </a:pPr>
            <a:r>
              <a:t>[Pergunta principal 8 sobre o tema]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240280"/>
            <a:ext cx="109728" cy="22860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4663440"/>
            <a:ext cx="11247120" cy="15544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• Para expandir: 'Dê um exemplo recente...'</a:t>
            </a:r>
            <a:br/>
            <a:r>
              <a:t>• Para concordar/discordar: 'Qual é o outro lado dessa moeda?'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663440"/>
            <a:ext cx="109728" cy="155448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1645920" cy="635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0" y="164592"/>
            <a:ext cx="822960" cy="635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08960" y="164592"/>
            <a:ext cx="365760" cy="635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09728" cy="3200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AVANT-GARDE CUBIST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20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Atividade de Escrita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Consolidação e Memorização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1247120" cy="2560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Escrita Recomendada: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[Instrução detalhada da tarefa: escrever um texto, frases ou diálogo]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09728" cy="256032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114800"/>
            <a:ext cx="11247120" cy="21031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400">
                <a:solidFill>
                  <a:srgbClr val="334155"/>
                </a:solidFill>
              </a:defRPr>
            </a:pPr>
            <a:r>
              <a:t>Identificamos que a escrita nesta etapa é fundamental para você fixar as estruturas aprendidas, expandir vocabulário ativo e diminuir a tradução mental automática do seu idioma nativo.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109728" cy="210312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1645920" cy="635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0" y="164592"/>
            <a:ext cx="822960" cy="635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08960" y="164592"/>
            <a:ext cx="365760" cy="635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09728" cy="3200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AVANT-GARDE CUBIST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21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— Tarefa de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Ação e Prática Contínua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1247120" cy="475488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Tarefa de Casa: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• [Atividade prática 1 para realizar fora da aula]</a:t>
            </a:r>
            <a:br/>
            <a:r>
              <a:t>• [Atividade de fixação de vocabulário ou escuta]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09728" cy="475488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64592"/>
            <a:ext cx="1645920" cy="635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194560" y="164592"/>
            <a:ext cx="822960" cy="635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108960" y="164592"/>
            <a:ext cx="365760" cy="6350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828800"/>
            <a:ext cx="109728" cy="3200400"/>
          </a:xfrm>
          <a:prstGeom prst="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a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0" y="182880"/>
            <a:ext cx="1360998" cy="594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E3A8A"/>
                </a:solidFill>
              </a:defRPr>
            </a:pPr>
            <a:r>
              <a:t>HAAS LANGUAGE  •  AVANT-GARDE CUBIST EDITION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64465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4F35E2"/>
                </a:solidFill>
              </a:defRPr>
            </a:pPr>
            <a:r>
              <a:t>SLIDE 22 /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4F35E2"/>
                </a:solidFill>
              </a:defRPr>
            </a:pPr>
            <a:r>
              <a:t>Encerramento &amp; Feedback Rápido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96112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E3A8A"/>
                </a:solidFill>
              </a:defRPr>
            </a:pPr>
            <a:r>
              <a:t>Considerações Finais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11247120" cy="182880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4F35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2000" b="1">
                <a:solidFill>
                  <a:srgbClr val="4F35E2"/>
                </a:solidFill>
              </a:defRPr>
            </a:pPr>
            <a:r>
              <a:t>Agradecimento:</a:t>
            </a:r>
          </a:p>
          <a:p>
            <a:pPr>
              <a:spcBef>
                <a:spcPts val="600"/>
              </a:spcBef>
              <a:defRPr sz="1600">
                <a:solidFill>
                  <a:srgbClr val="334155"/>
                </a:solidFill>
              </a:defRPr>
            </a:pPr>
            <a:r>
              <a:t>Obrigado pela dedicação na aula de hoje!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371600"/>
            <a:ext cx="109728" cy="1828800"/>
          </a:xfrm>
          <a:prstGeom prst="roundRect">
            <a:avLst/>
          </a:prstGeom>
          <a:solidFill>
            <a:srgbClr val="4F35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11247120" cy="2743200"/>
          </a:xfrm>
          <a:prstGeom prst="roundRect">
            <a:avLst/>
          </a:prstGeom>
          <a:solidFill>
            <a:srgbClr val="E0F2F1"/>
          </a:solidFill>
          <a:ln w="19050">
            <a:solidFill>
              <a:srgbClr val="14C8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tIns="182880" rIns="182880" bIns="182880"/>
          <a:lstStyle/>
          <a:p>
            <a:pPr algn="ctr">
              <a:defRPr sz="1800" b="1">
                <a:solidFill>
                  <a:srgbClr val="4F35E2"/>
                </a:solidFill>
              </a:defRPr>
            </a:pPr>
            <a:r>
              <a:t>Espaço para Feedback Rápido:</a:t>
            </a:r>
          </a:p>
          <a:p>
            <a:pPr>
              <a:spcBef>
                <a:spcPts val="600"/>
              </a:spcBef>
              <a:defRPr sz="1500">
                <a:solidFill>
                  <a:srgbClr val="334155"/>
                </a:solidFill>
              </a:defRPr>
            </a:pPr>
            <a:r>
              <a:t>[Espaço destinado para o professor coletar dúvidas rápidas e considerações do aluno]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83280"/>
            <a:ext cx="109728" cy="2743200"/>
          </a:xfrm>
          <a:prstGeom prst="roundRect">
            <a:avLst/>
          </a:prstGeom>
          <a:solidFill>
            <a:srgbClr val="14C8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