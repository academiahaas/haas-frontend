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1 // 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4F35E2"/>
                </a:solidFill>
              </a:defRPr>
            </a:pPr>
            <a:r>
              <a:t>[Imagem Horizontal Bleed]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91695" cy="30175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4400" b="1">
                <a:solidFill>
                  <a:srgbClr val="14C8B0"/>
                </a:solidFill>
              </a:defRPr>
            </a:pPr>
            <a:r>
              <a:t>[Título da Aula / Tema Principal]</a:t>
            </a:r>
          </a:p>
          <a:p>
            <a:pPr>
              <a:spcBef>
                <a:spcPts val="600"/>
              </a:spcBef>
              <a:defRPr sz="2000">
                <a:solidFill>
                  <a:srgbClr val="FFFFFF"/>
                </a:solidFill>
              </a:defRPr>
            </a:pPr>
            <a:r>
              <a:t>[Subtítulo / Descrição da Aula]</a:t>
            </a:r>
            <a:br/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4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800">
                <a:solidFill>
                  <a:srgbClr val="4F35E2"/>
                </a:solidFill>
              </a:defRPr>
            </a:pPr>
            <a:r>
              <a:t>[Nome do(a) Professor(a)]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560320"/>
            <a:ext cx="6675120" cy="32004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400" b="1">
                <a:solidFill>
                  <a:srgbClr val="14C8B0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C8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3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Foco 100% na Fala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91695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[Imagem Panorâmica]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57600"/>
            <a:ext cx="12191695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200" b="1">
                <a:solidFill>
                  <a:srgbClr val="14C8B0"/>
                </a:solidFill>
              </a:defRPr>
            </a:pPr>
            <a:r>
              <a:t>Pergunta Rápida: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29200"/>
            <a:ext cx="12191695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Neuro: Ativa o córtex pré-frontal e reduz a inibição.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4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C8B0"/>
                </a:solidFill>
              </a:defRPr>
            </a:pPr>
            <a:r>
              <a:t>Objetivos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 que vamos alcançar hoje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6858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400" b="1">
                <a:solidFill>
                  <a:srgbClr val="4F35E2"/>
                </a:solidFill>
              </a:defRPr>
            </a:pPr>
            <a:r>
              <a:t>Metas:</a:t>
            </a:r>
          </a:p>
          <a:p>
            <a:pPr>
              <a:spcBef>
                <a:spcPts val="600"/>
              </a:spcBef>
              <a:defRPr sz="1800">
                <a:solidFill>
                  <a:srgbClr val="4F35E2"/>
                </a:solidFill>
              </a:defRPr>
            </a:pPr>
            <a:r>
              <a:t>• [Objetivo 1]</a:t>
            </a:r>
            <a:br/>
            <a:br/>
            <a:r>
              <a:t>• [Objetivo 2]</a:t>
            </a:r>
            <a:br/>
            <a:br/>
            <a:r>
              <a:t>• [Objetivo 3]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371600"/>
            <a:ext cx="3931920" cy="4572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800">
                <a:solidFill>
                  <a:srgbClr val="4F35E2"/>
                </a:solidFill>
              </a:defRPr>
            </a:pPr>
            <a:r>
              <a:t>Atenção à escrita para reduzir a tradução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5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0058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Conversação sem julgamentos.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Apresentação da gramática.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38328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3. Prática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Exercícios guiados.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389120"/>
            <a:ext cx="12191695" cy="100584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4. Conversa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Aplicação prática.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394960"/>
            <a:ext cx="12191695" cy="100584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Consolidação visual.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6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Explicação — Parte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200" b="1">
                <a:solidFill>
                  <a:srgbClr val="14C8B0"/>
                </a:solidFill>
              </a:defRPr>
            </a:pPr>
            <a:r>
              <a:t>Conteúdo: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12191695" cy="1554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Prática: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Atenção: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7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Explicação — Parte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200" b="1">
                <a:solidFill>
                  <a:srgbClr val="14C8B0"/>
                </a:solidFill>
              </a:defRPr>
            </a:pPr>
            <a:r>
              <a:t>Conteúdo: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12191695" cy="1554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Prática: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Atenção: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8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Explicação — Parte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71600"/>
            <a:ext cx="12191695" cy="18288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200" b="1">
                <a:solidFill>
                  <a:srgbClr val="14C8B0"/>
                </a:solidFill>
              </a:defRPr>
            </a:pPr>
            <a:r>
              <a:t>Conteúdo: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200400"/>
            <a:ext cx="12191695" cy="155448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Prática: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[Exemplos adicionais e frases do dia a dia]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Atenção: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9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600" b="1">
                <a:solidFill>
                  <a:srgbClr val="14C8B0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6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800">
                <a:solidFill>
                  <a:srgbClr val="4F35E2"/>
                </a:solidFill>
              </a:defRPr>
            </a:pPr>
            <a:r>
              <a:t>🎵 [Nome da Música / Vídeo recomendado].</a:t>
            </a:r>
            <a:br/>
            <a:br/>
            <a:r>
              <a:t>O professor pode rodar o áudio ou deixar como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10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C8B0"/>
                </a:solidFill>
              </a:defRPr>
            </a:pPr>
            <a:r>
              <a:t>Prática Guiada 1-5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377440"/>
            <a:ext cx="7315200" cy="914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7315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7315200" cy="914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[Reestruturação / Transformação de frase]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11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C8B0"/>
                </a:solidFill>
              </a:defRPr>
            </a:pPr>
            <a:r>
              <a:t>Prática Guiada 6-10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06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2377440"/>
            <a:ext cx="7315200" cy="914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07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[Escolha da opção correta]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7315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08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7315200" cy="914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09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10</a:t>
            </a:r>
          </a:p>
          <a:p>
            <a:pPr>
              <a:spcBef>
                <a:spcPts val="600"/>
              </a:spcBef>
              <a:defRPr sz="1600">
                <a:solidFill>
                  <a:srgbClr val="4F35E2"/>
                </a:solidFill>
              </a:defRPr>
            </a:pPr>
            <a:r>
              <a:t>[Tradução de sentido sem uso literal]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12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13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4754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14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232257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346557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803904"/>
            <a:ext cx="4114800" cy="232257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15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151180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2654808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993136"/>
            <a:ext cx="4114800" cy="151180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4276344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614672"/>
            <a:ext cx="4114800" cy="151180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ight Triangle 12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16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110642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2249424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587752"/>
            <a:ext cx="4114800" cy="110642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346557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803904"/>
            <a:ext cx="4114800" cy="110642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457200" y="4681728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020056"/>
            <a:ext cx="4114800" cy="110642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5" name="Right Triangle 14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17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863193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2006193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344521"/>
            <a:ext cx="4114800" cy="863193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2979114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317443"/>
            <a:ext cx="4114800" cy="863193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457200" y="395203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0364"/>
            <a:ext cx="4114800" cy="863193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457200" y="4924957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5263286"/>
            <a:ext cx="4114800" cy="863193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5" name="Right Triangle 14"/>
          <p:cNvSpPr/>
          <p:nvPr/>
        </p:nvSpPr>
        <p:spPr>
          <a:xfrm rot="10800000">
            <a:off x="457200" y="5897879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Right Triangle 16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18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184404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82368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2654808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993136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457200" y="346557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803904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457200" y="4276344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614672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5" name="Right Triangle 14"/>
          <p:cNvSpPr/>
          <p:nvPr/>
        </p:nvSpPr>
        <p:spPr>
          <a:xfrm rot="10800000">
            <a:off x="457200" y="5087112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5425440"/>
            <a:ext cx="4114800" cy="701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Right Triangle 16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9" name="Right Triangle 18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19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457200" y="172821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66543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9" name="Right Triangle 8"/>
          <p:cNvSpPr/>
          <p:nvPr/>
        </p:nvSpPr>
        <p:spPr>
          <a:xfrm rot="10800000">
            <a:off x="457200" y="2423159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761488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ight Triangle 10"/>
          <p:cNvSpPr/>
          <p:nvPr/>
        </p:nvSpPr>
        <p:spPr>
          <a:xfrm rot="10800000">
            <a:off x="457200" y="3118104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456432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457200" y="3813048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151376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5" name="Right Triangle 14"/>
          <p:cNvSpPr/>
          <p:nvPr/>
        </p:nvSpPr>
        <p:spPr>
          <a:xfrm rot="10800000">
            <a:off x="457200" y="4507992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7" name="Right Triangle 16"/>
          <p:cNvSpPr/>
          <p:nvPr/>
        </p:nvSpPr>
        <p:spPr>
          <a:xfrm rot="10800000">
            <a:off x="457200" y="5202936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5541264"/>
            <a:ext cx="4114800" cy="58521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9" name="Right Triangle 18"/>
          <p:cNvSpPr/>
          <p:nvPr/>
        </p:nvSpPr>
        <p:spPr>
          <a:xfrm rot="10800000">
            <a:off x="457200" y="5897880"/>
            <a:ext cx="228600" cy="228600"/>
          </a:xfrm>
          <a:prstGeom prst="rtTriangle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1371600"/>
            <a:ext cx="6858000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21" name="Right Triangle 20"/>
          <p:cNvSpPr/>
          <p:nvPr/>
        </p:nvSpPr>
        <p:spPr>
          <a:xfrm rot="5400000">
            <a:off x="11475720" y="3520440"/>
            <a:ext cx="228600" cy="228600"/>
          </a:xfrm>
          <a:prstGeom prst="rtTriangle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4023360"/>
            <a:ext cx="6858000" cy="210312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Apoio ao Professor: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• Para expandir: "Dê um exemplo recente..."</a:t>
            </a:r>
            <a:br/>
            <a:r>
              <a:t>• Para concordar/discordar: "Qual é o outro lado dessa moeda?"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C8B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20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400" b="1">
                <a:solidFill>
                  <a:srgbClr val="4F35E2"/>
                </a:solidFill>
              </a:defRPr>
            </a:pPr>
            <a:r>
              <a:t>Tarefa:</a:t>
            </a:r>
          </a:p>
          <a:p>
            <a:pPr>
              <a:spcBef>
                <a:spcPts val="600"/>
              </a:spcBef>
              <a:defRPr sz="1800">
                <a:solidFill>
                  <a:srgbClr val="4F35E2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0"/>
            <a:ext cx="12191695" cy="1371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 escrita é fundamental para fixar estruturas, expandir vocabulário e diminuir a tradução mental automática.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35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4C8B0"/>
                </a:solidFill>
              </a:defRPr>
            </a:pPr>
            <a:r>
              <a:t>21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C8B0"/>
                </a:solidFill>
              </a:defRPr>
            </a:pPr>
            <a:r>
              <a:t>Tarefa de Casa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36576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Ação Contínua:</a:t>
            </a:r>
          </a:p>
          <a:p>
            <a:pPr>
              <a:spcBef>
                <a:spcPts val="600"/>
              </a:spcBef>
              <a:defRPr sz="2400">
                <a:solidFill>
                  <a:srgbClr val="FFFFFF"/>
                </a:solidFill>
              </a:defRPr>
            </a:pPr>
            <a:r>
              <a:t>• [Atividade prática 1 fora da aula]</a:t>
            </a:r>
            <a:br/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F35E2"/>
                </a:solidFill>
              </a:defRPr>
            </a:pPr>
            <a:r>
              <a:t>HAAS LANGUAGE  •  DUOTONE BRUTALIST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64922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F35E2"/>
                </a:solidFill>
              </a:defRPr>
            </a:pPr>
            <a:r>
              <a:t>22 // 22</a:t>
            </a:r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Encerramento &amp;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3200" b="1">
                <a:solidFill>
                  <a:srgbClr val="4F35E2"/>
                </a:solidFill>
              </a:defRPr>
            </a:pPr>
            <a:r>
              <a:t>Obrigado!</a:t>
            </a:r>
          </a:p>
          <a:p>
            <a:pPr>
              <a:spcBef>
                <a:spcPts val="600"/>
              </a:spcBef>
              <a:defRPr sz="2000">
                <a:solidFill>
                  <a:srgbClr val="4F35E2"/>
                </a:solidFill>
              </a:defRPr>
            </a:pPr>
            <a:r>
              <a:t>Sua dedicação é o que faz a diferença.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 bIns="137160"/>
          <a:lstStyle/>
          <a:p>
            <a:pPr algn="ctr">
              <a:defRPr sz="2400" b="1">
                <a:solidFill>
                  <a:srgbClr val="14C8B0"/>
                </a:solidFill>
              </a:defRPr>
            </a:pPr>
            <a:r>
              <a:t>Feedback: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[Professor: colete dúvidas rápidas e considerações do aluno aqui]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