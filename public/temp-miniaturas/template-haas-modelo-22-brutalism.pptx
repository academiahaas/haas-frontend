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POP BRUTALISM 3D EDITION 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01 /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6583680" cy="4572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658368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3D HERO</a:t>
            </a:r>
          </a:p>
          <a:p>
            <a:pPr>
              <a:spcBef>
                <a:spcPts val="400"/>
              </a:spcBef>
              <a:defRPr sz="3600" b="1">
                <a:solidFill>
                  <a:srgbClr val="4F35E2"/>
                </a:solidFill>
              </a:defRPr>
            </a:pPr>
            <a:r>
              <a:t>[Título da Aula / Tema Principal]</a:t>
            </a:r>
          </a:p>
          <a:p>
            <a:pPr>
              <a:spcBef>
                <a:spcPts val="400"/>
              </a:spcBef>
              <a:defRPr sz="1800">
                <a:solidFill>
                  <a:srgbClr val="334155"/>
                </a:solidFill>
              </a:defRPr>
            </a:pPr>
            <a:r>
              <a:t>[Subtítulo / Descrição da Aula]</a:t>
            </a:r>
            <a:br/>
            <a:br/>
            <a:r>
              <a:t>📅 Data da Aula: [DD/MM/AAAA]</a:t>
            </a:r>
          </a:p>
        </p:txBody>
      </p:sp>
      <p:sp>
        <p:nvSpPr>
          <p:cNvPr id="6" name="Rectangle 5"/>
          <p:cNvSpPr/>
          <p:nvPr/>
        </p:nvSpPr>
        <p:spPr>
          <a:xfrm>
            <a:off x="7534656" y="1408176"/>
            <a:ext cx="4206240" cy="45720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06640" y="1280160"/>
            <a:ext cx="4206240" cy="4572000"/>
          </a:xfrm>
          <a:prstGeom prst="rect">
            <a:avLst/>
          </a:prstGeom>
          <a:solidFill>
            <a:srgbClr val="EDE9FE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[Imagem Hero 3D]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POP BRUTALISM 3D EDITION 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02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Presença &amp; Integrantes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Registro da Sessão em Bloco 3D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10972800" cy="20116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00" cy="2011680"/>
          </a:xfrm>
          <a:prstGeom prst="rect">
            <a:avLst/>
          </a:prstGeom>
          <a:solidFill>
            <a:srgbClr val="EDE9FE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DOCENTE</a:t>
            </a:r>
          </a:p>
          <a:p>
            <a:pPr>
              <a:spcBef>
                <a:spcPts val="400"/>
              </a:spcBef>
              <a:defRPr sz="2000" b="1">
                <a:solidFill>
                  <a:srgbClr val="4F35E2"/>
                </a:solidFill>
              </a:defRPr>
            </a:pPr>
            <a:r>
              <a:t>Professor(a):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[Nome do(a) Professor(a)]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858768"/>
            <a:ext cx="10972800" cy="23774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749039"/>
            <a:ext cx="10972800" cy="2377440"/>
          </a:xfrm>
          <a:prstGeom prst="rect">
            <a:avLst/>
          </a:prstGeom>
          <a:solidFill>
            <a:srgbClr val="E0F2F1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TURMA</a:t>
            </a:r>
          </a:p>
          <a:p>
            <a:pPr>
              <a:spcBef>
                <a:spcPts val="400"/>
              </a:spcBef>
              <a:defRPr sz="2000" b="1">
                <a:solidFill>
                  <a:srgbClr val="4F35E2"/>
                </a:solidFill>
              </a:defRPr>
            </a:pPr>
            <a:r>
              <a:t>Aluno(s):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[Nome do Aluno / Lista da Turma]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POP BRUTALISM 3D EDITION 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03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Aquecimento / Warm-up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Foco 100% na Fala (3 Minutos)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6400800" cy="2286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64008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SPEECH PROMPT</a:t>
            </a:r>
          </a:p>
          <a:p>
            <a:pPr>
              <a:spcBef>
                <a:spcPts val="400"/>
              </a:spcBef>
              <a:defRPr sz="2000" b="1">
                <a:solidFill>
                  <a:srgbClr val="4F35E2"/>
                </a:solidFill>
              </a:defRPr>
            </a:pPr>
            <a:r>
              <a:t>Pergunta Provocativa Rápida: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[Insira aqui a pergunta provocativa de aquecimento]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041648"/>
            <a:ext cx="6400800" cy="2103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6400800" cy="2103120"/>
          </a:xfrm>
          <a:prstGeom prst="rect">
            <a:avLst/>
          </a:prstGeom>
          <a:solidFill>
            <a:srgbClr val="E0F2F1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Fundamentação Neurocognitiva: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Ativa o córtex pré-frontal e reduz a inibição linguística inicial.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51776" y="1499616"/>
            <a:ext cx="4389120" cy="4663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60" y="1371600"/>
            <a:ext cx="4389120" cy="4663440"/>
          </a:xfrm>
          <a:prstGeom prst="rect">
            <a:avLst/>
          </a:prstGeom>
          <a:solidFill>
            <a:srgbClr val="EDE9FE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[Imagem Warm-up]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POP BRUTALISM 3D EDITION 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04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Objetivos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Metas de Hoje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6400800" cy="1371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64008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Goal #01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[Objetivo 1]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035808"/>
            <a:ext cx="6400800" cy="13716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64008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Goal #02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[Objetivo 2]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590288"/>
            <a:ext cx="6400800" cy="1554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480560"/>
            <a:ext cx="64008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Goal #03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[Objetivo 3]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33488" y="1481328"/>
            <a:ext cx="4389120" cy="46634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23760" y="1371600"/>
            <a:ext cx="4389120" cy="4663440"/>
          </a:xfrm>
          <a:prstGeom prst="rect">
            <a:avLst/>
          </a:prstGeom>
          <a:solidFill>
            <a:srgbClr val="EDE9FE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WRITING FOCUS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Nota de Escrita: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Nesta aula daremos atenção à escrita para reforçar a memorização de estruturas/vocabulário e reduzir a interferência da língua materna.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POP BRUTALISM 3D EDITION 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05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 Nossa Metodologia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Estrutura Haas Language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5303520" cy="21945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30352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PASSO 01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1. Fala Ativa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Conversação inicial sem julgamentos.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1481328"/>
            <a:ext cx="5486400" cy="21945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371600"/>
            <a:ext cx="5486400" cy="2194560"/>
          </a:xfrm>
          <a:prstGeom prst="rect">
            <a:avLst/>
          </a:prstGeom>
          <a:solidFill>
            <a:srgbClr val="E0F2F1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PASSO 02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2. Exposição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Apresentação leve da gramática.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950208"/>
            <a:ext cx="3474720" cy="2286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3474720" cy="2286000"/>
          </a:xfrm>
          <a:prstGeom prst="rect">
            <a:avLst/>
          </a:prstGeom>
          <a:solidFill>
            <a:srgbClr val="EDE9FE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PASSO 03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3. Prática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Exercícios com suporte.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3950208"/>
            <a:ext cx="3657600" cy="2286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3840480"/>
            <a:ext cx="36576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PASSO 04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4. Conversa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Aplicação prática real.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47888" y="3950208"/>
            <a:ext cx="3474720" cy="22860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3840480"/>
            <a:ext cx="3474720" cy="2286000"/>
          </a:xfrm>
          <a:prstGeom prst="rect">
            <a:avLst/>
          </a:prstGeom>
          <a:solidFill>
            <a:srgbClr val="E0F2F1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PASSO 05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5. Escrita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Consolidação visual.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POP BRUTALISM 3D EDITION 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06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6400800" cy="46634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400800" cy="4663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FOCUS 3D</a:t>
            </a:r>
          </a:p>
          <a:p>
            <a:pPr>
              <a:spcBef>
                <a:spcPts val="400"/>
              </a:spcBef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1]</a:t>
            </a:r>
          </a:p>
        </p:txBody>
      </p:sp>
      <p:sp>
        <p:nvSpPr>
          <p:cNvPr id="8" name="Rectangle 7"/>
          <p:cNvSpPr/>
          <p:nvPr/>
        </p:nvSpPr>
        <p:spPr>
          <a:xfrm>
            <a:off x="7333488" y="1481328"/>
            <a:ext cx="4389120" cy="21945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23760" y="1371600"/>
            <a:ext cx="4389120" cy="2194560"/>
          </a:xfrm>
          <a:prstGeom prst="rect">
            <a:avLst/>
          </a:prstGeom>
          <a:solidFill>
            <a:srgbClr val="E0F2F1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EXAMPLES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3950208"/>
            <a:ext cx="4389120" cy="2194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23760" y="3840480"/>
            <a:ext cx="4389120" cy="2194560"/>
          </a:xfrm>
          <a:prstGeom prst="rect">
            <a:avLst/>
          </a:prstGeom>
          <a:solidFill>
            <a:srgbClr val="EDE9FE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RULES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POP BRUTALISM 3D EDITION 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07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6400800" cy="46634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400800" cy="4663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FOCUS 3D</a:t>
            </a:r>
          </a:p>
          <a:p>
            <a:pPr>
              <a:spcBef>
                <a:spcPts val="400"/>
              </a:spcBef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2]</a:t>
            </a:r>
          </a:p>
        </p:txBody>
      </p:sp>
      <p:sp>
        <p:nvSpPr>
          <p:cNvPr id="8" name="Rectangle 7"/>
          <p:cNvSpPr/>
          <p:nvPr/>
        </p:nvSpPr>
        <p:spPr>
          <a:xfrm>
            <a:off x="7333488" y="1481328"/>
            <a:ext cx="4389120" cy="21945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23760" y="1371600"/>
            <a:ext cx="4389120" cy="2194560"/>
          </a:xfrm>
          <a:prstGeom prst="rect">
            <a:avLst/>
          </a:prstGeom>
          <a:solidFill>
            <a:srgbClr val="E0F2F1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EXAMPLES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3950208"/>
            <a:ext cx="4389120" cy="2194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23760" y="3840480"/>
            <a:ext cx="4389120" cy="2194560"/>
          </a:xfrm>
          <a:prstGeom prst="rect">
            <a:avLst/>
          </a:prstGeom>
          <a:solidFill>
            <a:srgbClr val="EDE9FE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RULES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POP BRUTALISM 3D EDITION 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08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6400800" cy="46634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400800" cy="4663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FOCUS 3D</a:t>
            </a:r>
          </a:p>
          <a:p>
            <a:pPr>
              <a:spcBef>
                <a:spcPts val="400"/>
              </a:spcBef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3]</a:t>
            </a:r>
          </a:p>
        </p:txBody>
      </p:sp>
      <p:sp>
        <p:nvSpPr>
          <p:cNvPr id="8" name="Rectangle 7"/>
          <p:cNvSpPr/>
          <p:nvPr/>
        </p:nvSpPr>
        <p:spPr>
          <a:xfrm>
            <a:off x="7333488" y="1481328"/>
            <a:ext cx="4389120" cy="21945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23760" y="1371600"/>
            <a:ext cx="4389120" cy="2194560"/>
          </a:xfrm>
          <a:prstGeom prst="rect">
            <a:avLst/>
          </a:prstGeom>
          <a:solidFill>
            <a:srgbClr val="E0F2F1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EXAMPLES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3950208"/>
            <a:ext cx="4389120" cy="2194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23760" y="3840480"/>
            <a:ext cx="4389120" cy="2194560"/>
          </a:xfrm>
          <a:prstGeom prst="rect">
            <a:avLst/>
          </a:prstGeom>
          <a:solidFill>
            <a:srgbClr val="EDE9FE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RULES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POP BRUTALISM 3D EDITION 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09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Síntese do Conteúdo &amp; Sugestão Cultural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5303520" cy="46634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303520" cy="4663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SUMMARY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Resumo do Tema: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[Resumo sintético dos pontos chave ensinados na aula]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6208" y="1481328"/>
            <a:ext cx="5486400" cy="46634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371600"/>
            <a:ext cx="5486400" cy="4663440"/>
          </a:xfrm>
          <a:prstGeom prst="rect">
            <a:avLst/>
          </a:prstGeom>
          <a:solidFill>
            <a:srgbClr val="E0F2F1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MEDIA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Sugestão Cultural: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🎵 [Nome da Música / Vídeo recomendado sobre o assunto].</a:t>
            </a:r>
            <a:br/>
            <a:br/>
            <a:r>
              <a:t>O professor pode rodar o áudio/vídeo ou deixar como recomendação extra para o aluno praticar.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POP BRUTALISM 3D EDITION 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10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Prática Guiada — Blocos 1 a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Correção de Vícios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04672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481328"/>
            <a:ext cx="594360" cy="3200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5303520" cy="16459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53035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04672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61488"/>
            <a:ext cx="594360" cy="3200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743200"/>
            <a:ext cx="5303520" cy="16459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2651760"/>
            <a:ext cx="53035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04672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[Preenchimento direto de verbos]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2761488"/>
            <a:ext cx="594360" cy="3200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72000"/>
            <a:ext cx="5303520" cy="1645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04672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590288"/>
            <a:ext cx="594360" cy="3200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572000"/>
            <a:ext cx="5303520" cy="1645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4480560"/>
            <a:ext cx="53035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04672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8" y="4590288"/>
            <a:ext cx="594360" cy="3200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POP BRUTALISM 3D EDITION 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11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Prática Guiada — Blocos 6 a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Desafios Práticos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04672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[Preposição / Conector correto]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481328"/>
            <a:ext cx="594360" cy="3200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5303520" cy="1645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53035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04672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[Escolha da opção correta]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61488"/>
            <a:ext cx="594360" cy="3200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743200"/>
            <a:ext cx="5303520" cy="1645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2651760"/>
            <a:ext cx="53035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04672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[Substituição por sinônimo formal]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2761488"/>
            <a:ext cx="594360" cy="3200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72000"/>
            <a:ext cx="5303520" cy="16459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53035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04672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[Identificação de erro e correção]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590288"/>
            <a:ext cx="594360" cy="3200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#09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572000"/>
            <a:ext cx="5303520" cy="16459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4480560"/>
            <a:ext cx="53035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04672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[Tradução de sentido sem uso literal]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8" y="4590288"/>
            <a:ext cx="594360" cy="3200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#10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POP BRUTALISM 3D EDITION 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12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Ativa [1/8]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10972800" cy="23774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SPEAKING HERO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PERGUNTA ATIVA Q01:</a:t>
            </a:r>
          </a:p>
          <a:p>
            <a:pPr>
              <a:spcBef>
                <a:spcPts val="400"/>
              </a:spcBef>
              <a:defRPr sz="18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041648"/>
            <a:ext cx="10972800" cy="2103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10972800" cy="2103120"/>
          </a:xfrm>
          <a:prstGeom prst="rect">
            <a:avLst/>
          </a:prstGeom>
          <a:solidFill>
            <a:srgbClr val="E0F2F1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TEACHER SUPPORT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POP BRUTALISM 3D EDITION 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13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Ativa [2/8]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6400800" cy="23774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64008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ACTIVE Q02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PERGUNTA ATIVA Q02: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041648"/>
            <a:ext cx="6400800" cy="2103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6400800" cy="2103120"/>
          </a:xfrm>
          <a:prstGeom prst="rect">
            <a:avLst/>
          </a:prstGeom>
          <a:solidFill>
            <a:srgbClr val="E0F2F1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TEACHER SUPPORT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96912" y="1444752"/>
            <a:ext cx="4389120" cy="46634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60" y="1371600"/>
            <a:ext cx="4389120" cy="4663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Q01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POP BRUTALISM 3D EDITION 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14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Ativa [3/8]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6400800" cy="23774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64008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ACTIVE Q03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PERGUNTA ATIVA Q03: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041648"/>
            <a:ext cx="6400800" cy="2103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6400800" cy="2103120"/>
          </a:xfrm>
          <a:prstGeom prst="rect">
            <a:avLst/>
          </a:prstGeom>
          <a:solidFill>
            <a:srgbClr val="E0F2F1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TEACHER SUPPORT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96912" y="1444752"/>
            <a:ext cx="4389120" cy="2276856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60" y="1371600"/>
            <a:ext cx="4389120" cy="2276856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Q01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96912" y="3831335"/>
            <a:ext cx="4389120" cy="2276856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23760" y="3758183"/>
            <a:ext cx="4389120" cy="2276856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Q02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[Pergunta principal 2 sobre o 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POP BRUTALISM 3D EDITION 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15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Ativa [4/8]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6400800" cy="23774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64008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ACTIVE Q04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PERGUNTA ATIVA Q04: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041648"/>
            <a:ext cx="6400800" cy="2103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6400800" cy="2103120"/>
          </a:xfrm>
          <a:prstGeom prst="rect">
            <a:avLst/>
          </a:prstGeom>
          <a:solidFill>
            <a:srgbClr val="E0F2F1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TEACHER SUPPORT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96912" y="1444752"/>
            <a:ext cx="4389120" cy="1481328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60" y="1371600"/>
            <a:ext cx="4389120" cy="1481328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Q01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96912" y="3035808"/>
            <a:ext cx="4389120" cy="1481328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23760" y="2962656"/>
            <a:ext cx="4389120" cy="1481328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Q02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[Pergunta principal 2 sobre o 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96912" y="4626864"/>
            <a:ext cx="4389120" cy="14813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23760" y="4553712"/>
            <a:ext cx="4389120" cy="1481328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Q03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[Pergunta principal 3 sobre o 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POP BRUTALISM 3D EDITION 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16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Ativa [5/8]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6400800" cy="23774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64008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ACTIVE Q05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PERGUNTA ATIVA Q05: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041648"/>
            <a:ext cx="6400800" cy="2103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6400800" cy="2103120"/>
          </a:xfrm>
          <a:prstGeom prst="rect">
            <a:avLst/>
          </a:prstGeom>
          <a:solidFill>
            <a:srgbClr val="E0F2F1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TEACHER SUPPORT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96912" y="1444752"/>
            <a:ext cx="4389120" cy="1083563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60" y="1371600"/>
            <a:ext cx="4389120" cy="1083563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Q01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96912" y="2638044"/>
            <a:ext cx="4389120" cy="1083563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23760" y="2564891"/>
            <a:ext cx="4389120" cy="1083563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Q02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[Pergunta principal 2 sobre o 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96912" y="3831335"/>
            <a:ext cx="4389120" cy="1083563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23760" y="3758183"/>
            <a:ext cx="4389120" cy="1083563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Q03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[Pergunta principal 3 sobre o 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96912" y="5024627"/>
            <a:ext cx="4389120" cy="1083563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23760" y="4951475"/>
            <a:ext cx="4389120" cy="1083563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Q04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[Pergunta principal 4 sobre o 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POP BRUTALISM 3D EDITION 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17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Ativa [6/8]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6400800" cy="23774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64008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ACTIVE Q06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PERGUNTA ATIVA Q06: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041648"/>
            <a:ext cx="6400800" cy="2103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6400800" cy="2103120"/>
          </a:xfrm>
          <a:prstGeom prst="rect">
            <a:avLst/>
          </a:prstGeom>
          <a:solidFill>
            <a:srgbClr val="E0F2F1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TEACHER SUPPORT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96912" y="1444752"/>
            <a:ext cx="4389120" cy="844905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60" y="1371600"/>
            <a:ext cx="4389120" cy="844905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Q01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96912" y="2399385"/>
            <a:ext cx="4389120" cy="844905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23760" y="2326233"/>
            <a:ext cx="4389120" cy="844905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Q02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[Pergunta principal 2 sobre o 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96912" y="3354019"/>
            <a:ext cx="4389120" cy="84490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23760" y="3280867"/>
            <a:ext cx="4389120" cy="844905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Q03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[Pergunta principal 3 sobre o 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96912" y="4308652"/>
            <a:ext cx="4389120" cy="844905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23760" y="4235500"/>
            <a:ext cx="4389120" cy="844905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Q04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[Pergunta principal 4 sobre o 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5263286"/>
            <a:ext cx="4389120" cy="844905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23760" y="5190134"/>
            <a:ext cx="4389120" cy="844905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Q05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[Pergunta principal 5 sobre o 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POP BRUTALISM 3D EDITION 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18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Ativa [7/8]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6400800" cy="23774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64008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ACTIVE Q07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PERGUNTA ATIVA Q07: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041648"/>
            <a:ext cx="6400800" cy="2103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6400800" cy="2103120"/>
          </a:xfrm>
          <a:prstGeom prst="rect">
            <a:avLst/>
          </a:prstGeom>
          <a:solidFill>
            <a:srgbClr val="E0F2F1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TEACHER SUPPORT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96912" y="1444752"/>
            <a:ext cx="4389120" cy="6858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60" y="1371600"/>
            <a:ext cx="438912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Q01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96912" y="2240280"/>
            <a:ext cx="4389120" cy="685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23760" y="2167128"/>
            <a:ext cx="438912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Q02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2 sobre o 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96912" y="3035808"/>
            <a:ext cx="4389120" cy="685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23760" y="2962656"/>
            <a:ext cx="438912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Q03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3 sobre o 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96912" y="3831335"/>
            <a:ext cx="4389120" cy="6858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23760" y="3758183"/>
            <a:ext cx="438912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Q04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4 sobre o 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4626864"/>
            <a:ext cx="4389120" cy="685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23760" y="4553712"/>
            <a:ext cx="438912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Q05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5 sobre o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96912" y="5422392"/>
            <a:ext cx="4389120" cy="685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23760" y="5349240"/>
            <a:ext cx="438912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Q06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6 sobre o 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POP BRUTALISM 3D EDITION 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19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Sessão Ativa [8/8]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6400800" cy="23774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64008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ACTIVE Q08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PERGUNTA ATIVA Q08: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[Pergunta principal 8 sobre o tema]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041648"/>
            <a:ext cx="6400800" cy="2103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6400800" cy="2103120"/>
          </a:xfrm>
          <a:prstGeom prst="rect">
            <a:avLst/>
          </a:prstGeom>
          <a:solidFill>
            <a:srgbClr val="E0F2F1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TEACHER SUPPORT</a:t>
            </a:r>
          </a:p>
          <a:p>
            <a:pPr>
              <a:spcBef>
                <a:spcPts val="400"/>
              </a:spcBef>
              <a:defRPr sz="1500" b="1">
                <a:solidFill>
                  <a:srgbClr val="4F35E2"/>
                </a:solidFill>
              </a:defRPr>
            </a:pPr>
            <a:r>
              <a:t>PROMPTS DE APOIO: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96912" y="1444752"/>
            <a:ext cx="4389120" cy="572153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60" y="1371600"/>
            <a:ext cx="4389120" cy="572153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Q01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1 sobre o 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96912" y="2126633"/>
            <a:ext cx="4389120" cy="572153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23760" y="2053481"/>
            <a:ext cx="4389120" cy="572153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Q02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2 sobre o 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96912" y="2808514"/>
            <a:ext cx="4389120" cy="572153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23760" y="2735362"/>
            <a:ext cx="4389120" cy="572153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Q03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3 sobre o 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96912" y="3490395"/>
            <a:ext cx="4389120" cy="572153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23760" y="3417243"/>
            <a:ext cx="4389120" cy="572153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Q04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4 sobre o 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4172276"/>
            <a:ext cx="4389120" cy="572153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23760" y="4099124"/>
            <a:ext cx="4389120" cy="572153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Q05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5 sobre o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96912" y="4854157"/>
            <a:ext cx="4389120" cy="572153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23760" y="4781005"/>
            <a:ext cx="4389120" cy="572153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Q06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6 sobre o ...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96912" y="5536038"/>
            <a:ext cx="4389120" cy="572153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23760" y="5462886"/>
            <a:ext cx="4389120" cy="572153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 b="1">
                <a:solidFill>
                  <a:srgbClr val="4F35E2"/>
                </a:solidFill>
              </a:defRPr>
            </a:pPr>
            <a:r>
              <a:t>Q07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[Pergunta principal 7 sobre o 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POP BRUTALISM 3D EDITION 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20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Atividade de Escrita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Consolidação e Memorização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10972800" cy="23774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WRITING TASK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Tarefa de Escrita Recomendada: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[Instrução detalhada da tarefa: escrever um texto, frases ou diálogo]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041648"/>
            <a:ext cx="10972800" cy="2103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10972800" cy="2103120"/>
          </a:xfrm>
          <a:prstGeom prst="rect">
            <a:avLst/>
          </a:prstGeom>
          <a:solidFill>
            <a:srgbClr val="E0F2F1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NEURO RATIONALE</a:t>
            </a:r>
          </a:p>
          <a:p>
            <a:pPr>
              <a:spcBef>
                <a:spcPts val="400"/>
              </a:spcBef>
              <a:defRPr sz="1600" b="1">
                <a:solidFill>
                  <a:srgbClr val="4F35E2"/>
                </a:solidFill>
              </a:defRPr>
            </a:pPr>
            <a:r>
              <a:t>Fundamentação Pedagógica:</a:t>
            </a:r>
          </a:p>
          <a:p>
            <a:pPr>
              <a:spcBef>
                <a:spcPts val="400"/>
              </a:spcBef>
              <a:defRPr sz="1400">
                <a:solidFill>
                  <a:srgbClr val="334155"/>
                </a:solidFill>
              </a:defRPr>
            </a:pPr>
            <a:r>
              <a:t>Identificamos que a escrita nesta etapa é fundamental para você fixar as estruturas aprendidas, expandir vocabulário ativo e diminuir a tradução mental automática do seu idioma nativo.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POP BRUTALISM 3D EDITION 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21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Encerramento — Tarefa de Casa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Ação e Prática Contínua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10972800" cy="46634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00" cy="4663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HOMEWORK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Tarefa de Casa: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• [Atividade prática 1 para realizar fora da aula]</a:t>
            </a:r>
            <a:br/>
            <a:r>
              <a:t>• [Atividade de fixação de vocabulário ou escuta]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POP BRUTALISM 3D EDITION 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E3A8A"/>
                </a:solidFill>
              </a:defRPr>
            </a:pPr>
            <a:r>
              <a:t>22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Encerramento &amp; Feedback Rápido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Considerações Finais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10972800" cy="20116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00" cy="2011680"/>
          </a:xfrm>
          <a:prstGeom prst="rect">
            <a:avLst/>
          </a:prstGeom>
          <a:solidFill>
            <a:srgbClr val="EDE9FE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THANKS</a:t>
            </a:r>
          </a:p>
          <a:p>
            <a:pPr>
              <a:spcBef>
                <a:spcPts val="400"/>
              </a:spcBef>
              <a:defRPr sz="2000" b="1">
                <a:solidFill>
                  <a:srgbClr val="4F35E2"/>
                </a:solidFill>
              </a:defRPr>
            </a:pPr>
            <a:r>
              <a:t>Agradecimento:</a:t>
            </a:r>
          </a:p>
          <a:p>
            <a:pPr>
              <a:spcBef>
                <a:spcPts val="400"/>
              </a:spcBef>
              <a:defRPr sz="1600">
                <a:solidFill>
                  <a:srgbClr val="334155"/>
                </a:solidFill>
              </a:defRPr>
            </a:pPr>
            <a:r>
              <a:t>Obrigado pela dedicação na aula de hoje!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675887"/>
            <a:ext cx="10972800" cy="246888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566160"/>
            <a:ext cx="10972800" cy="2468880"/>
          </a:xfrm>
          <a:prstGeom prst="rect">
            <a:avLst/>
          </a:prstGeom>
          <a:solidFill>
            <a:srgbClr val="E0F2F1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000" b="1">
                <a:solidFill>
                  <a:srgbClr val="4F35E2"/>
                </a:solidFill>
              </a:defRPr>
            </a:pPr>
            <a:r>
              <a:t>FEEDBACK</a:t>
            </a:r>
          </a:p>
          <a:p>
            <a:pPr>
              <a:spcBef>
                <a:spcPts val="400"/>
              </a:spcBef>
              <a:defRPr sz="1800" b="1">
                <a:solidFill>
                  <a:srgbClr val="4F35E2"/>
                </a:solidFill>
              </a:defRPr>
            </a:pPr>
            <a:r>
              <a:t>Espaço para Feedback Rápido: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</a:defRPr>
            </a:pPr>
            <a:r>
              <a:t>[Espaço destinado para o professor coletar dúvidas rápidas e considerações do aluno]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