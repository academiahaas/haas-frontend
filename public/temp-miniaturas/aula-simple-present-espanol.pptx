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4F35E2"/>
                </a:solidFill>
              </a:defRPr>
            </a:pPr>
            <a:r>
              <a:t>Simple Present Tense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Habla sobre tu rutina y hechos reales en inglés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371600"/>
            <a:ext cx="5029200" cy="45720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[Imagen: Daily Routines &amp; Habits]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2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Presencia e Integrantes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347472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Profesor(a):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Sarah Miller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103120"/>
            <a:ext cx="7498079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Alumno(s):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Carlos Gómez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3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Calentamiento / Warm-up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Enfoque 100% en Habla (3 Minutos)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594360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Pregunta Provocadora Rápida: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What is the first thing you do when you wake up in the morning?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80560"/>
            <a:ext cx="5943600" cy="164592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Fundamentación Neurocognitiva: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Activa la corteza prefrontal y reduce la inhibición lingüística inicial.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286000"/>
            <a:ext cx="5029200" cy="38404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[Imagen: Morning Routine]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4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Objetivos de la Clase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Lo que lograremos hoy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4712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Metas de la Clase: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• Expresar hábitos y rutinas diarias en inglés con fluidez.</a:t>
            </a:r>
            <a:br/>
            <a:r>
              <a:t>• Dominar las reglas de la 3ª persona del singular (he, she, it).</a:t>
            </a:r>
            <a:br/>
            <a:r>
              <a:t>• Formular preguntas y negaciones correctamente usando do/does.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46320"/>
            <a:ext cx="1124712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 de Escritura: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En esta clase prestaremos atención a la escritura para reforzar la memorización de estructuras/vocabulario y reducir la interferencia de la lengua materna.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5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Nuestra Metodología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Estructura Fija de Aprendizaje Haas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20574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1. Habla Activa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Conversación inicial sin juzgamientos.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2286000"/>
            <a:ext cx="20574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2. Exposición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Presentación ligera de la gramática.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286000"/>
            <a:ext cx="20574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3. Práctica Guiada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Ejercicios con apoyo del profesor.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2286000"/>
            <a:ext cx="20574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4. Conversación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Aplicación práctica de estructuras.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2286000"/>
            <a:ext cx="20574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5. Escritura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Consolidación y reducción de traducción.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6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Simple Present — Estructura Básica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Estrategia Multinivel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713232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Contenido Principal (Inicial / Básico):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Usamos el Simple Present para rutinas, hechos y verdades generales.</a:t>
            </a:r>
            <a:br/>
            <a:br/>
            <a:r>
              <a:t>Estructura:</a:t>
            </a:r>
            <a:br/>
            <a:r>
              <a:t>• Affirmative: I / You / We / They + Verb (base form)</a:t>
            </a:r>
            <a:br/>
            <a:r>
              <a:t>  Ex: I play tennis every Saturday.</a:t>
            </a:r>
            <a:br/>
            <a:r>
              <a:t>• Negative: Subject + don't + Verb</a:t>
            </a:r>
            <a:br/>
            <a:r>
              <a:t>  Ex: They don't eat meat.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286000"/>
            <a:ext cx="3931920" cy="38404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Nuances &amp; Excepciones</a:t>
            </a:r>
            <a:br/>
            <a:r>
              <a:t>(Independiente / Avanzado):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Spelling rules para He / She / It:</a:t>
            </a:r>
            <a:br/>
            <a:r>
              <a:t>• Add -s: works, plays</a:t>
            </a:r>
            <a:br/>
            <a:r>
              <a:t>• Add -es (ch, sh, ss, x, o): watches, goes</a:t>
            </a:r>
            <a:br/>
            <a:r>
              <a:t>• Y preceded by consonant -&gt; -ies: study -&gt; studies.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7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Preguntas &amp; Adverbios de Frecuencia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Estrategia Multinivel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713232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Contenido Principal (Inicial / Básico):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Para hacer preguntas usamos DO o DOES:</a:t>
            </a:r>
            <a:br/>
            <a:r>
              <a:t>• Do you live in Spain?</a:t>
            </a:r>
            <a:br/>
            <a:r>
              <a:t>• Does she work here?</a:t>
            </a:r>
            <a:br/>
            <a:br/>
            <a:r>
              <a:t>Adverbios de Frecuencia:</a:t>
            </a:r>
            <a:br/>
            <a:r>
              <a:t>Always (100%), Usually (80%), Sometimes (50%), Never (0%).</a:t>
            </a:r>
            <a:br/>
            <a:r>
              <a:t>Ex: I always drink coffee in the morning.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286000"/>
            <a:ext cx="3931920" cy="38404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Nuances &amp; Excepciones</a:t>
            </a:r>
            <a:br/>
            <a:r>
              <a:t>(Independiente / Avanzado):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Posición del Adverbio:</a:t>
            </a:r>
            <a:br/>
            <a:r>
              <a:t>• Antes del verbo principal: She seldom eats fast food.</a:t>
            </a:r>
            <a:br/>
            <a:r>
              <a:t>• Después del verbo TO BE: He is always late.</a:t>
            </a:r>
            <a:br/>
            <a:r>
              <a:t>• Word order con expresiones de tiempo: Every day va al final.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8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Stative Verbs vs Action Verbs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Estrategia Multinivel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713232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Contenido Principal (Inicial / Básico):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Diferencia entre expresar acciones y estados de ánimo / posesión:</a:t>
            </a:r>
            <a:br/>
            <a:br/>
            <a:r>
              <a:t>• Action: I run, she works, we study.</a:t>
            </a:r>
            <a:br/>
            <a:r>
              <a:t>• State/Feeling: I love pizza, she needs help, they have a car.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286000"/>
            <a:ext cx="3931920" cy="38404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Nuances &amp; Excepciones</a:t>
            </a:r>
            <a:br/>
            <a:r>
              <a:t>(Independiente / Avanzado):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Stative Verbs NO se usan normalmente en tiempos continuos (-ing):</a:t>
            </a:r>
            <a:br/>
            <a:r>
              <a:t>• Correct: I know the answer.</a:t>
            </a:r>
            <a:br/>
            <a:r>
              <a:t>• Incorrect: I am knowing the answer.</a:t>
            </a:r>
            <a:br/>
            <a:r>
              <a:t>• Future schedules: The train leaves at 8 PM.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9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Síntense del Contenido &amp; Sugerencia Cultural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Resumen y Recomendación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4712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Resumen de la Regla de Oro: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• Rutina/Hecho -&gt; Simple Present.</a:t>
            </a:r>
            <a:br/>
            <a:r>
              <a:t>• Recuerda agregar -s/-es a he/she/it.</a:t>
            </a:r>
            <a:br/>
            <a:r>
              <a:t>• Usa Do/Does para negar y preguntar.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72000"/>
            <a:ext cx="1124712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Sugerencia Cultural: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🎵 Canción recomendada: The Beatles - 'A Hard Day's Night'.</a:t>
            </a:r>
            <a:br/>
            <a:r>
              <a:t>Presta atención a cómo la letra usa el Simple Present para describir hábitos diarios.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10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Práctica Guiada — Ejercicios 1 a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Máximo 10 Ejercicios Guiados (Corrección de Vicios)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Ejercicio 1: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She ______ (work / works) in a bank. — Inicial / Descubrimiento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35808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Ejercicio 2: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They ______ (don't / doesn't) like tea. — Básico / Conexión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77056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Ejercicio 3: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______ you speak French? (Do / Does) — Básico / Conexión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18304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Ejercicio 4: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Rewrite: 'He study English on Mondays.' (Fix the verb) — Intermedio / Autónomo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559552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Ejercicio 5: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Change to negative: 'My sister lives in London.' — Intermedio / Autónomo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11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Prática Guiada — Ejercicios 6 a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Desafíos para Niveles Superiores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Ejercicio 6: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Place the adverb: 'She goes to the gym.' (always) — Intermedio / Autónomo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35808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Ejercicio 7: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Which sentence is correct? A) He don't have time. B) He doesn't have time. — Independiente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77056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Ejercicio 8: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Replace with a formal synonym: 'He starts the meeting at 9.' — Independente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18304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Ejercicio 9: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Find and fix the error: 'I am understanding this rule now.' — Avanzado / Especialista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559552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Ejercicio 10: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Explain the nuance: 'I think you are right' vs 'I am thinking about it'. — Avanzado / Especialista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12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Pregunta 1 de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11247120" cy="21945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2200" b="1">
                <a:solidFill>
                  <a:srgbClr val="4F35E2"/>
                </a:solidFill>
              </a:defRPr>
            </a:pPr>
            <a:r>
              <a:t>Pregunta 1: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What time do you usually wake up on weekends? — Inicial / Descubrimiento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80560"/>
            <a:ext cx="1124712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Sub-prompts Visuales (Apoyo al Alumno):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'Give a recent example...'</a:t>
            </a:r>
            <a:br/>
            <a:r>
              <a:t>• Para estar de acuerdo/en desacuerdo: 'What is the other side of the coin?'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13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Pregunta 2 de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57400"/>
            <a:ext cx="112471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P1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What time do you usually wake up on weekends?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54680"/>
            <a:ext cx="11247120" cy="17373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Pregunta 2: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What do you usually eat for breakfast? — Básico / Conexión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029200"/>
            <a:ext cx="112471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Sub-prompts Visuales (Apoyo al Alumno):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• Para expandir: 'Give a recent example...'</a:t>
            </a:r>
            <a:br/>
            <a:r>
              <a:t>• Para estar de acuerdo/en desacuerdo: 'What is the other side of the coin?'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14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Pregunta 3 de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57400"/>
            <a:ext cx="550926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P1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What time do you usually wake up on weekends?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60" y="2057400"/>
            <a:ext cx="550926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P2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What do you usually eat for breakfast?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54680"/>
            <a:ext cx="11247120" cy="17373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Pregunta 3: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Where do you go when you want to relax? — Básico / Conexión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029200"/>
            <a:ext cx="112471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Sub-prompts Visuales (Apoyo al Alumno):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• Para expandir: 'Give a recent example...'</a:t>
            </a:r>
            <a:br/>
            <a:r>
              <a:t>• Para estar de acuerdo/en desacuerdo: 'What is the other side of the coin?'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15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Pregunta 4 de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57400"/>
            <a:ext cx="359664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P1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What time do you usually wake up on weekends?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2440" y="2057400"/>
            <a:ext cx="359664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P2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What do you usually eat for breakfast?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7680" y="2057400"/>
            <a:ext cx="359664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P3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Where do you go when you want to relax?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54680"/>
            <a:ext cx="11247120" cy="17373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Pregunta 4: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How do you manage your daily routine when you have too much work? — Intermedio / Autónomo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029200"/>
            <a:ext cx="112471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Sub-prompts Visuales (Apoyo al Alumno):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• Para expandir: 'Give a recent example...'</a:t>
            </a:r>
            <a:br/>
            <a:r>
              <a:t>• Para estar de acuerdo/en desacuerdo: 'What is the other side of the coin?'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16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Pregunta 5 de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57400"/>
            <a:ext cx="264033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P1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What time do you usually wake up on weekends?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6130" y="2057400"/>
            <a:ext cx="264033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P2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What do you usually eat for breakfast?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5060" y="2057400"/>
            <a:ext cx="264033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P3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Where do you go when you want to relax?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63990" y="2057400"/>
            <a:ext cx="264033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P4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How do you manage your daily routine when you have too much work?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54680"/>
            <a:ext cx="11247120" cy="17373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Pregunta 5: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What habits do you think are essential for a healthy lifestyle? — Intermedio / Autónomo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029200"/>
            <a:ext cx="112471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Sub-prompts Visuales (Apoyo al Alumno):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• Para expandir: 'Give a recent example...'</a:t>
            </a:r>
            <a:br/>
            <a:r>
              <a:t>• Para estar de acuerdo/en desacuerdo: 'What is the other side of the coin?'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17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Pregunta 6 de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57400"/>
            <a:ext cx="2139696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P1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What time do you usually wake up on weekends?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34056" y="2057400"/>
            <a:ext cx="2139696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P2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What do you usually eat for breakfast?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10912" y="2057400"/>
            <a:ext cx="2139696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P3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Where do you go when you want to relax?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7768" y="2057400"/>
            <a:ext cx="2139696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P4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How do you manage your daily routine when you have too much work?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64624" y="2057400"/>
            <a:ext cx="2139696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P5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What habits do you think are essential for a healthy lifestyle?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54680"/>
            <a:ext cx="11247120" cy="17373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Pregunta 6: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How does technology affect the daily routines of modern society? — Independiente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112471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Sub-prompts Visuales (Apoyo al Alumno):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• Para expandir: 'Give a recent example...'</a:t>
            </a:r>
            <a:br/>
            <a:r>
              <a:t>• Para estar de acuerdo/en desacuerdo: 'What is the other side of the coin?'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18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Pregunta 7 de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57400"/>
            <a:ext cx="17602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P1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What time do you usually wake up on weekends?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54580" y="2057400"/>
            <a:ext cx="17602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P2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What do you usually eat for breakfast?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057400"/>
            <a:ext cx="17602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P3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Where do you go when you want to relax?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9340" y="2057400"/>
            <a:ext cx="17602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P4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How do you manage your daily routine when you have too much work?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057400"/>
            <a:ext cx="17602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P5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What habits do you think are essential for a healthy lifestyle?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44100" y="2057400"/>
            <a:ext cx="17602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P6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How does technology affect the daily routines of modern society?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54680"/>
            <a:ext cx="11247120" cy="17373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Pregunta 7: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In what ways do cultural differences shape people's daily habits around the world? — Independiente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029200"/>
            <a:ext cx="112471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Sub-prompts Visuales (Apoyo al Alumno):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• Para expandir: 'Give a recent example...'</a:t>
            </a:r>
            <a:br/>
            <a:r>
              <a:t>• Para estar de acuerdo/en desacuerdo: 'What is the other side of the coin?'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19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Pregunta 8 de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57400"/>
            <a:ext cx="1489165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P1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What time do you usually wake up on weekends?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83525" y="2057400"/>
            <a:ext cx="1489165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P2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What do you usually eat for breakfast?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9851" y="2057400"/>
            <a:ext cx="1489165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P3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Where do you go when you want to relax?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6177" y="2057400"/>
            <a:ext cx="1489165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P4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How do you manage your daily routine when you have too much work?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2502" y="2057400"/>
            <a:ext cx="1489165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P5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What habits do you think are essential for a healthy lifestyle?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88828" y="2057400"/>
            <a:ext cx="1489165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P6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How does technology affect the daily routines of modern society?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5154" y="2057400"/>
            <a:ext cx="1489165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P7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In what ways do cultural differences shape people's daily habits around the world?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154680"/>
            <a:ext cx="11247120" cy="17373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Pregunta 8: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Debate: 'Habits define a person's destiny more than talent.' Do you agree? — Avanzado / Especialista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29200"/>
            <a:ext cx="112471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Sub-prompts Visuales (Apoyo al Alumno):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• Para expandir: 'Give a recent example...'</a:t>
            </a:r>
            <a:br/>
            <a:r>
              <a:t>• Para estar de acuerdo/en desacuerdo: 'What is the other side of the coin?'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20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Actividad de Escritura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Consolidación y Memorización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1124712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Tarea de Escritura Recomendada: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Escribe un párrafo corto (4 a 6 oraciones) describiendo tu rutina ideal de fin de semana.</a:t>
            </a:r>
            <a:br/>
            <a:r>
              <a:t>Regra: Utiliza al menos 4 verbos en Simple Present y 2 adverbios de frecuencia (always, usually, etc.).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54880"/>
            <a:ext cx="11247120" cy="12801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Identificamos que la escritura en esta etapa es fundamental para fijar las estructuras aprendidas, expandir el vocabulario activo y disminuir la traducción mental automática de tu idioma nativo.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21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Cierre — Tarea para la Casa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Acción y Práctica Continua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4712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Tarea para la Casa: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• Listening: Escucha una canción en inglés y escribe 3 oraciones que usen el Simple Present.</a:t>
            </a:r>
            <a:br/>
            <a:r>
              <a:t>• Speaking: Graba un audio de 1 minuto en WhatsApp describiendo la rutina de un familiar (usando He / She).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22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Cierre &amp; Feedback Rápido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Consideraciones Finales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471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Agradecimiento: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¡Muchas gracias por tu dedicación en la clase de hoy!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1124712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Espacio para Feedback Rápido: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[Espacio destinado para que el profesor recopile dudas rápidas y comentarios del alumno]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