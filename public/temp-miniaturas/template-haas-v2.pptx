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Present Perfect vs Past 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Welcome to our English Class!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34155"/>
                </a:solidFill>
                <a:latin typeface="Calibri"/>
              </a:defRPr>
            </a:pPr>
            <a:r>
              <a:t>Hello, everyone! Ready to master one of the most important topics in English?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2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Attendance &amp; 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Who is with us today?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109728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Students list: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(Professor, verifique os alunos presentes)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3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Warm-up!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Let's talk! (3 minutes)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400">
                <a:solidFill>
                  <a:srgbClr val="334155"/>
                </a:solidFill>
                <a:latin typeface="Calibri"/>
              </a:defRPr>
            </a:pPr>
            <a:r>
              <a:t>Have you ever traveled to another country or a completely different city? Where did you go?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0"/>
            <a:ext cx="73152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Dica: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Just speak freely! Don't worry about grammar right now.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Goals of the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What we are going to learn: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Understand the difference between completed past actions and life experiences.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Learn how to use time words like yesterday, ever, never, already and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Speak confidently about your past.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0972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Nesta aula daremos atenção à escrita para reforçar a memorização e reduzir a interferência.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5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A Nossa Metodologia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Como vamos aprender hoje: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Fala Ativa Primeiro: Conversação inicial sem julgamentos.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Exposição do Conteúdo: Apresentação da gramática de forma leve.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Prática Guiada: Exercícios com suporte do professor.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Conversação: Aplicação prática.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Escrita: Consolidação e redução de interferência nativa.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6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Past 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Ações Finalizadas no Passado (Tempo Definido)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34155"/>
                </a:solidFill>
                <a:latin typeface="Calibri"/>
              </a:defRPr>
            </a:pPr>
            <a:r>
              <a:t>Examples:</a:t>
            </a:r>
            <a:br/>
            <a:r>
              <a:t>- I went to Paris in 2018.</a:t>
            </a:r>
            <a:br/>
            <a:r>
              <a:t>- She didn't call me yesterday.</a:t>
            </a:r>
            <a:br/>
            <a:r>
              <a:t>- Did you eat pizza last night?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5029200"/>
            <a:ext cx="4114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Nuance (Avançado):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Também usado para eventos históricos sem tempo explícito.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7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Present Perfect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Experiências e Conexão com o Presente (Tempo Indefinido)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34155"/>
                </a:solidFill>
                <a:latin typeface="Calibri"/>
              </a:defRPr>
            </a:pPr>
            <a:r>
              <a:t>Examples:</a:t>
            </a:r>
            <a:br/>
            <a:r>
              <a:t>- I have been to Paris. (Experiência)</a:t>
            </a:r>
            <a:br/>
            <a:r>
              <a:t>- She hasn't finished her work yet. (Resultado presente)</a:t>
            </a:r>
            <a:br/>
            <a:r>
              <a:t>- Have you ever eaten sushi?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8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Time Words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A chave para saber qual usar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50292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Past Simple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Yesterday, Last week, In 2015, 2 days ago.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743200"/>
            <a:ext cx="50292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Present Perfect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Ever, Never, Just, Already, Yet, Since, For.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9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Síntese &amp; Cultura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Resumindo a regra de ouro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34155"/>
                </a:solidFill>
                <a:latin typeface="Calibri"/>
              </a:defRPr>
            </a:pPr>
            <a:r>
              <a:t>Data específica? -&gt; Past Simple.</a:t>
            </a:r>
            <a:br/>
            <a:r>
              <a:t>Experiência/Até agora? -&gt; Present Perfect.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09728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Recomendação Cultural: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Música: U2 - 'I Still Haven\'t Found What I\'m Looking For'. Observe os verbos!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10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Let's Practice! (Part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Exercícios Guiados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[Inicial] 1. I ______ (went / have gone) to the mall yesterday.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[Inicial] 2. They ______ (didn't finish / haven't finished) the project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[Básico] 3. ______ you ever ______ (eat / eaten) Mexican food?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[Básico] 4. She ______ (lives / has lived) in London since 2020.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11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Let's Practice! (Part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Desafios e Nuances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[Intermediário] 5. Change to PP: I started reading this morning and I am still reading.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[Independente] 6. Find the error: I have bought a new car two weeks ago.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[Avançado] 7. Explain: 'He has gone to the store' vs 'He has been to the store'.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12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Time to Speak!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Let's use what we learned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200">
                <a:solidFill>
                  <a:srgbClr val="334155"/>
                </a:solidFill>
                <a:latin typeface="Calibri"/>
              </a:defRPr>
            </a:pPr>
            <a:r>
              <a:t>1. Have you ever tried a weird food? — [Inicial]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0972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What was it? Did you like it? Where did you eat it?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13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Time to Speak!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Histórico Acumulado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200">
                <a:solidFill>
                  <a:srgbClr val="334155"/>
                </a:solidFill>
                <a:latin typeface="Calibri"/>
              </a:defRPr>
            </a:pPr>
            <a:r>
              <a:t>1. Have you ever tried a weird food?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200">
                <a:solidFill>
                  <a:srgbClr val="334155"/>
                </a:solidFill>
                <a:latin typeface="Calibri"/>
              </a:defRPr>
            </a:pPr>
            <a:r>
              <a:t>2. When was the last time you went to a live event? — [Básico]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0972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Prompts de apoio: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Who played? Who did you go with?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Time to Speak!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Histórico Acumulado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200">
                <a:solidFill>
                  <a:srgbClr val="334155"/>
                </a:solidFill>
                <a:latin typeface="Calibri"/>
              </a:defRPr>
            </a:pPr>
            <a:r>
              <a:t>1. Have you ever tried a weird food?</a:t>
            </a:r>
            <a:br/>
            <a:r>
              <a:t>2. When was the last time you went to a live event?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57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200">
                <a:solidFill>
                  <a:srgbClr val="334155"/>
                </a:solidFill>
                <a:latin typeface="Calibri"/>
              </a:defRPr>
            </a:pPr>
            <a:r>
              <a:t>3. How has your life changed in the last 5 years? — [Intermediário]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15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Time to Speak!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Histórico Acumulado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200">
                <a:solidFill>
                  <a:srgbClr val="334155"/>
                </a:solidFill>
                <a:latin typeface="Calibri"/>
              </a:defRPr>
            </a:pPr>
            <a:r>
              <a:t>1. Have you ever tried a weird food?</a:t>
            </a:r>
            <a:br/>
            <a:r>
              <a:t>2. When was the last time you went to a live event?</a:t>
            </a:r>
            <a:br/>
            <a:r>
              <a:t>3. How has your life changed in the last 5 years?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000">
                <a:solidFill>
                  <a:srgbClr val="334155"/>
                </a:solidFill>
                <a:latin typeface="Calibri"/>
              </a:defRPr>
            </a:pPr>
            <a:r>
              <a:t>4. Society focuses too much on past mistakes. Impact? — [Avançado]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16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Writing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Consolidando visualmente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109728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Tarefa de Escrita: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Escreva um parágrafo curto sobre a sua melhor viagem de férias. Use 3 verbos no Past Simple e 2 no Present Perfect.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09728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4F35E2"/>
                </a:solidFill>
                <a:latin typeface="Calibri"/>
              </a:defRPr>
            </a:pPr>
            <a:r>
              <a:t>Razão Pedagógica:</a:t>
            </a:r>
          </a:p>
          <a:p>
            <a:pPr>
              <a:spcBef>
                <a:spcPts val="600"/>
              </a:spcBef>
              <a:defRPr sz="1200">
                <a:solidFill>
                  <a:srgbClr val="334155"/>
                </a:solidFill>
                <a:latin typeface="Calibri"/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17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Homework / Action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Keep practicing at home!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Listening: Assista a um vídeo no YouTube e anote 3 frases com Present Perfect.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4C8B0"/>
                </a:solidFill>
                <a:latin typeface="Calibri"/>
              </a:rPr>
              <a:t>● </a:t>
            </a:r>
            <a:r>
              <a:rPr sz="1500">
                <a:solidFill>
                  <a:srgbClr val="334155"/>
                </a:solidFill>
                <a:latin typeface="Calibri"/>
              </a:rPr>
              <a:t>Speaking: Grave um áudio no grupo de WhatsApp contando algo que você 'already did'.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1371600" cy="598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05840"/>
            <a:ext cx="1097280" cy="50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274320"/>
            <a:ext cx="548640" cy="54864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40080"/>
            <a:ext cx="274320" cy="274320"/>
          </a:xfrm>
          <a:prstGeom prst="ellips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Haas Academia de Idiomas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Calibri"/>
              </a:defRPr>
            </a:pPr>
            <a:r>
              <a:t>Slide 18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  <a:latin typeface="Calibri"/>
              </a:defRPr>
            </a:pPr>
            <a:r>
              <a:t>Any final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2400">
                <a:solidFill>
                  <a:srgbClr val="334155"/>
                </a:solidFill>
                <a:latin typeface="Calibri"/>
              </a:defRPr>
            </a:pPr>
            <a:r>
              <a:t>Great job today!</a:t>
            </a:r>
            <a:br/>
            <a:br/>
            <a:r>
              <a:t>Feedback rápido: O que vocês acharam mais fácil e mais difícil na aula de hoje?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43200"/>
            <a:ext cx="3657600" cy="27432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0"/>
              </a:spcBef>
              <a:defRPr sz="1400">
                <a:solidFill>
                  <a:srgbClr val="4F35E2"/>
                </a:solidFill>
                <a:latin typeface="Calibri"/>
              </a:defRPr>
            </a:pPr>
            <a:r>
              <a:t>[Imagem / Ilustração]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