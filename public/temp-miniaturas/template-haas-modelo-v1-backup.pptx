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09728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30000" y="365760"/>
            <a:ext cx="274320" cy="27432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Haas Academia de Idiomas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Slide 1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F35E2"/>
                </a:solidFill>
              </a:defRPr>
            </a:pPr>
            <a:r>
              <a:t>[Título da Aula / Tema Principal]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Bem-vindo(a) à nossa aula!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743200"/>
            <a:ext cx="11247120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4F35E2"/>
                </a:solidFill>
              </a:defRPr>
            </a:pPr>
            <a:r>
              <a:t>Mensagem de Boas-vindas: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[Mensagem de boas-vindas no idioma que está sendo aprendido]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09728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30000" y="365760"/>
            <a:ext cx="274320" cy="27432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Haas Academia de Idiomas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Slide 2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F35E2"/>
                </a:solidFill>
              </a:defRPr>
            </a:pPr>
            <a:r>
              <a:t>Presença &amp; Integrantes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Lista de Alunos Previstos para esta Turma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86000"/>
            <a:ext cx="356616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4F35E2"/>
                </a:solidFill>
              </a:defRPr>
            </a:pPr>
            <a:r>
              <a:t>Aluno 1: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[Nome do Aluno]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286000"/>
            <a:ext cx="356616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4F35E2"/>
                </a:solidFill>
              </a:defRPr>
            </a:pPr>
            <a:r>
              <a:t>Aluno 2: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[Nome do Aluno]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286000"/>
            <a:ext cx="356616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4F35E2"/>
                </a:solidFill>
              </a:defRPr>
            </a:pPr>
            <a:r>
              <a:t>Aluno 3: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[Nome do Aluno]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114800"/>
            <a:ext cx="356616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4F35E2"/>
                </a:solidFill>
              </a:defRPr>
            </a:pPr>
            <a:r>
              <a:t>Aluno 4: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[Nome do Aluno]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4114800"/>
            <a:ext cx="356616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4F35E2"/>
                </a:solidFill>
              </a:defRPr>
            </a:pPr>
            <a:r>
              <a:t>Aluno 5: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[Nome do Aluno]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4114800"/>
            <a:ext cx="356616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4F35E2"/>
                </a:solidFill>
              </a:defRPr>
            </a:pPr>
            <a:r>
              <a:t>Aluno 6: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[Nome do Aluno]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09728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30000" y="365760"/>
            <a:ext cx="274320" cy="27432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Haas Academia de Idiomas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Slide 3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F35E2"/>
                </a:solidFill>
              </a:defRPr>
            </a:pPr>
            <a:r>
              <a:t>Aquecimento / Warm-up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Foco 100% na Fala (3 Minutos)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77440"/>
            <a:ext cx="1124712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4F35E2"/>
                </a:solidFill>
              </a:defRPr>
            </a:pPr>
            <a:r>
              <a:t>Pergunta Provocativa Rápida: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[Insira aqui a pergunta provocativa de aquecimento]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754880"/>
            <a:ext cx="11247120" cy="109728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4F35E2"/>
                </a:solidFill>
              </a:defRPr>
            </a:pPr>
            <a:r>
              <a:t>Fundamentação Neurocognitiva: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Ativa o córtex pré-frontal e reduz a inibição linguística inicial. Todos devem falar nos primeiros 3 minutos.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09728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30000" y="365760"/>
            <a:ext cx="274320" cy="27432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Haas Academia de Idiomas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Slide 4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F35E2"/>
                </a:solidFill>
              </a:defRPr>
            </a:pPr>
            <a:r>
              <a:t>Objetivos da Aula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O que vamos alcançar hoje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86000"/>
            <a:ext cx="1124712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4F35E2"/>
                </a:solidFill>
              </a:defRPr>
            </a:pPr>
            <a:r>
              <a:t>Metas da Aula: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• [Objetivo 1]</a:t>
            </a:r>
            <a:br/>
            <a:r>
              <a:t>• [Objetivo 2]</a:t>
            </a:r>
            <a:br/>
            <a:r>
              <a:t>• [Objetivo 3]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846320"/>
            <a:ext cx="1124712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4F35E2"/>
                </a:solidFill>
              </a:defRPr>
            </a:pPr>
            <a:r>
              <a:t>Nota de Escrita: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Nesta aula daremos atenção à escrita para reforçar a memorização de estruturas/vocabulário e reduzir a interferência da língua materna.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09728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30000" y="365760"/>
            <a:ext cx="274320" cy="27432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Haas Academia de Idiomas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Slide 5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F35E2"/>
                </a:solidFill>
              </a:defRPr>
            </a:pPr>
            <a:r>
              <a:t>A Nossa Metodologia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Estrutura Fixa de Aprendizado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94560"/>
            <a:ext cx="1124712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4F35E2"/>
                </a:solidFill>
              </a:defRPr>
            </a:pPr>
            <a:r>
              <a:t>1. Fala Ativa Primeiro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Conversação inicial sem julgamentos.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017520"/>
            <a:ext cx="1124712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4F35E2"/>
                </a:solidFill>
              </a:defRPr>
            </a:pPr>
            <a:r>
              <a:t>2. Exposição do Conteúdo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Apresentação da gramática/tema.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40480"/>
            <a:ext cx="1124712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4F35E2"/>
                </a:solidFill>
              </a:defRPr>
            </a:pPr>
            <a:r>
              <a:t>3. Prática Guiada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Exercícios com suporte do professor.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663440"/>
            <a:ext cx="1124712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4F35E2"/>
                </a:solidFill>
              </a:defRPr>
            </a:pPr>
            <a:r>
              <a:t>4. Conversação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Aplicação prática das estruturas.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486400"/>
            <a:ext cx="1124712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4F35E2"/>
                </a:solidFill>
              </a:defRPr>
            </a:pPr>
            <a:r>
              <a:t>5. Escrita (quando necessária)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Consolidação visual e redução de tradução.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09728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30000" y="365760"/>
            <a:ext cx="274320" cy="27432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Haas Academia de Idiomas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Slide 6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F35E2"/>
                </a:solidFill>
              </a:defRPr>
            </a:pPr>
            <a:r>
              <a:t>Explicação do Tema — Parte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Estratégia Multinível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86000"/>
            <a:ext cx="7315200" cy="3657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4F35E2"/>
                </a:solidFill>
              </a:defRPr>
            </a:pPr>
            <a:r>
              <a:t>Conteúdo Principal (Nível Inicial / Básico):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[Explicação e exemplos simples para os níveis Inicial e Básico - Bloco 1]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286000"/>
            <a:ext cx="3657600" cy="36576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4F35E2"/>
                </a:solidFill>
              </a:defRPr>
            </a:pPr>
            <a:r>
              <a:t>Nuances &amp; Exceções</a:t>
            </a:r>
            <a:br/>
            <a:r>
              <a:t>(Nível Independente / Avançado):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[Nuances gramaticais detalhadas para alunos avançados]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09728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30000" y="365760"/>
            <a:ext cx="274320" cy="27432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Haas Academia de Idiomas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Slide 7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F35E2"/>
                </a:solidFill>
              </a:defRPr>
            </a:pPr>
            <a:r>
              <a:t>Explicação do Tema — Parte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Estratégia Multinível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86000"/>
            <a:ext cx="7315200" cy="3657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4F35E2"/>
                </a:solidFill>
              </a:defRPr>
            </a:pPr>
            <a:r>
              <a:t>Conteúdo Principal (Nível Inicial / Básico):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[Explicação e exemplos simples para os níveis Inicial e Básico - Bloco 2]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286000"/>
            <a:ext cx="3657600" cy="36576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4F35E2"/>
                </a:solidFill>
              </a:defRPr>
            </a:pPr>
            <a:r>
              <a:t>Nuances &amp; Exceções</a:t>
            </a:r>
            <a:br/>
            <a:r>
              <a:t>(Nível Independente / Avançado):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[Nuances gramaticais detalhadas para alunos avançados]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09728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30000" y="365760"/>
            <a:ext cx="274320" cy="27432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Haas Academia de Idiomas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Slide 8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F35E2"/>
                </a:solidFill>
              </a:defRPr>
            </a:pPr>
            <a:r>
              <a:t>Explicação do Tema — Parte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Estratégia Multinível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86000"/>
            <a:ext cx="7315200" cy="3657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4F35E2"/>
                </a:solidFill>
              </a:defRPr>
            </a:pPr>
            <a:r>
              <a:t>Conteúdo Principal (Nível Inicial / Básico):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[Explicação e exemplos simples para os níveis Inicial e Básico - Bloco 3]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286000"/>
            <a:ext cx="3657600" cy="36576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4F35E2"/>
                </a:solidFill>
              </a:defRPr>
            </a:pPr>
            <a:r>
              <a:t>Nuances &amp; Exceções</a:t>
            </a:r>
            <a:br/>
            <a:r>
              <a:t>(Nível Independente / Avançado):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[Nuances gramaticais detalhadas para alunos avançados]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09728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30000" y="365760"/>
            <a:ext cx="274320" cy="27432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Haas Academia de Idiomas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Slide 9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F35E2"/>
                </a:solidFill>
              </a:defRPr>
            </a:pPr>
            <a:r>
              <a:t>Síntese do Conteúdo &amp; Sugestão Cultural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Resumo e Recomendação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86000"/>
            <a:ext cx="1124712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4F35E2"/>
                </a:solidFill>
              </a:defRPr>
            </a:pPr>
            <a:r>
              <a:t>Resumo do Tema: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[Resumo sintético dos pontos chave ensinados na aula]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572000"/>
            <a:ext cx="1124712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4F35E2"/>
                </a:solidFill>
              </a:defRPr>
            </a:pPr>
            <a:r>
              <a:t>Sugestão Cultural (Música ou Vídeo):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🎵 [Nome da Música / Vídeo recomendado sobre o assunto].</a:t>
            </a:r>
            <a:br/>
            <a:r>
              <a:t>O professor pode rodar o áudio/vídeo ou deixar como recomendação extra.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09728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30000" y="365760"/>
            <a:ext cx="274320" cy="27432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Haas Academia de Idiomas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Slide 10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F35E2"/>
                </a:solidFill>
              </a:defRPr>
            </a:pPr>
            <a:r>
              <a:t>Prática Guiada — Exercícios 1 a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Máximo de 10 Exercícios Guiados (Correção de Vícios)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94560"/>
            <a:ext cx="1124712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4F35E2"/>
                </a:solidFill>
              </a:defRPr>
            </a:pPr>
            <a:r>
              <a:t>Exercício 1: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[Lacunas contextualizadas com opções] — Inicial / Descoberta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017520"/>
            <a:ext cx="1124712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4F35E2"/>
                </a:solidFill>
              </a:defRPr>
            </a:pPr>
            <a:r>
              <a:t>Exercício 2: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[Lacunas contextualizadas com opções] — Básico / Conexão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40480"/>
            <a:ext cx="1124712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4F35E2"/>
                </a:solidFill>
              </a:defRPr>
            </a:pPr>
            <a:r>
              <a:t>Exercício 3: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[Preenchimento direto de verbos] — Básico / Conexão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663440"/>
            <a:ext cx="1124712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4F35E2"/>
                </a:solidFill>
              </a:defRPr>
            </a:pPr>
            <a:r>
              <a:t>Exercício 4: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[Reestruturação / Transformação] — Intermediário / Autônomo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486400"/>
            <a:ext cx="1124712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4F35E2"/>
                </a:solidFill>
              </a:defRPr>
            </a:pPr>
            <a:r>
              <a:t>Exercício 5: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[Reestruturação / Transformação] — Intermediário / Autônomo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09728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30000" y="365760"/>
            <a:ext cx="274320" cy="27432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Haas Academia de Idiomas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Slide 11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F35E2"/>
                </a:solidFill>
              </a:defRPr>
            </a:pPr>
            <a:r>
              <a:t>Prática Guiada — Exercícios 6 a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Desafios para Níveis Superiores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94560"/>
            <a:ext cx="1124712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4F35E2"/>
                </a:solidFill>
              </a:defRPr>
            </a:pPr>
            <a:r>
              <a:t>Exercício 6: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[Preposição / Conector correto] — Intermediário / Autônomo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017520"/>
            <a:ext cx="1124712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4F35E2"/>
                </a:solidFill>
              </a:defRPr>
            </a:pPr>
            <a:r>
              <a:t>Exercício 7: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[Escolha de opção correta] — Independente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40480"/>
            <a:ext cx="1124712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4F35E2"/>
                </a:solidFill>
              </a:defRPr>
            </a:pPr>
            <a:r>
              <a:t>Exercício 8: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[Substituição por sinônimo formal] — Independente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663440"/>
            <a:ext cx="1124712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4F35E2"/>
                </a:solidFill>
              </a:defRPr>
            </a:pPr>
            <a:r>
              <a:t>Exercício 9: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[Identificação de erro e correção] — Avançado / Especialista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486400"/>
            <a:ext cx="1124712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4F35E2"/>
                </a:solidFill>
              </a:defRPr>
            </a:pPr>
            <a:r>
              <a:t>Exercício 10: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[Tradução de sentido sem uso literal] — Avançado / Especialista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09728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30000" y="365760"/>
            <a:ext cx="274320" cy="27432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Haas Academia de Idiomas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Slide 12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F35E2"/>
                </a:solidFill>
              </a:defRPr>
            </a:pPr>
            <a:r>
              <a:t>Conversação Cirúrgica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Efeito Cumulativo Progressivo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86000"/>
            <a:ext cx="11247120" cy="18288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4F35E2"/>
                </a:solidFill>
              </a:defRPr>
            </a:pPr>
            <a:r>
              <a:t>Pergunta 1 (Revelada):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[Pergunta principal 1] — Inicial / Descoberta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389120"/>
            <a:ext cx="1124712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4F35E2"/>
                </a:solidFill>
              </a:defRPr>
            </a:pPr>
            <a:r>
              <a:t>Sub-prompts Visuais (Apoio):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09728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30000" y="365760"/>
            <a:ext cx="274320" cy="27432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Haas Academia de Idiomas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Slide 13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F35E2"/>
                </a:solidFill>
              </a:defRPr>
            </a:pPr>
            <a:r>
              <a:t>Conversação Cirúrgica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Efeito Cumulativo Progressivo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94560"/>
            <a:ext cx="1124712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4F35E2"/>
                </a:solidFill>
              </a:defRPr>
            </a:pPr>
            <a:r>
              <a:t>Histórico: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1. [Pergunta principal 1]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108960"/>
            <a:ext cx="11247120" cy="164592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4F35E2"/>
                </a:solidFill>
              </a:defRPr>
            </a:pPr>
            <a:r>
              <a:t>Pergunta 2 (Nova):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[Pergunta principal 2] — Básico / Conexão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937760"/>
            <a:ext cx="1124712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4F35E2"/>
                </a:solidFill>
              </a:defRPr>
            </a:pPr>
            <a:r>
              <a:t>Sub-prompts Visuais (Apoio):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09728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30000" y="365760"/>
            <a:ext cx="274320" cy="27432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Haas Academia de Idiomas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Slide 14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F35E2"/>
                </a:solidFill>
              </a:defRPr>
            </a:pPr>
            <a:r>
              <a:t>Conversação Cirúrgica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Efeito Cumulativo Progressivo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94560"/>
            <a:ext cx="1124712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4F35E2"/>
                </a:solidFill>
              </a:defRPr>
            </a:pPr>
            <a:r>
              <a:t>Histórico: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1. [Pergunta 1]</a:t>
            </a:r>
            <a:br/>
            <a:r>
              <a:t>2. [Pergunta 2]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474720"/>
            <a:ext cx="11247120" cy="164592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4F35E2"/>
                </a:solidFill>
              </a:defRPr>
            </a:pPr>
            <a:r>
              <a:t>Pergunta 3 (Nova):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[Pergunta principal 3] — Intermediário / Autônomo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303520"/>
            <a:ext cx="1124712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4F35E2"/>
                </a:solidFill>
              </a:defRPr>
            </a:pPr>
            <a:r>
              <a:t>Sub-prompts Visuais (Apoio):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• Prompts de expansão para a Pergunta 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09728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30000" y="365760"/>
            <a:ext cx="274320" cy="27432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Haas Academia de Idiomas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Slide 15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F35E2"/>
                </a:solidFill>
              </a:defRPr>
            </a:pPr>
            <a:r>
              <a:t>Conversação Cirúrgica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Efeito Cumulativo Progressivo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94560"/>
            <a:ext cx="1124712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4F35E2"/>
                </a:solidFill>
              </a:defRPr>
            </a:pPr>
            <a:r>
              <a:t>Histórico Completo: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1. [Pergunta 1]</a:t>
            </a:r>
            <a:br/>
            <a:r>
              <a:t>2. [Pergunta 2]</a:t>
            </a:r>
            <a:br/>
            <a:r>
              <a:t>3. [Pergunta 3]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749039"/>
            <a:ext cx="11247120" cy="146304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4F35E2"/>
                </a:solidFill>
              </a:defRPr>
            </a:pPr>
            <a:r>
              <a:t>Pergunta 4 (Nova):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[Pergunta principal 4] — Avançado / Especialista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394960"/>
            <a:ext cx="1124712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4F35E2"/>
                </a:solidFill>
              </a:defRPr>
            </a:pPr>
            <a:r>
              <a:t>Sub-prompts Visuais (Apoio):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• Prompts de análise crítica para a Pergunta 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09728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30000" y="365760"/>
            <a:ext cx="274320" cy="27432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Haas Academia de Idiomas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Slide 16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F35E2"/>
                </a:solidFill>
              </a:defRPr>
            </a:pPr>
            <a:r>
              <a:t>Atividade de Escrita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Consolidação e Memorização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86000"/>
            <a:ext cx="1124712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4F35E2"/>
                </a:solidFill>
              </a:defRPr>
            </a:pPr>
            <a:r>
              <a:t>Tarefa de Escrita Recomendada: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[Instrução detalhada da tarefa: escrever um texto, frases ou diálogo dependendo do nível]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754880"/>
            <a:ext cx="11247120" cy="118872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4F35E2"/>
                </a:solidFill>
              </a:defRPr>
            </a:pPr>
            <a:r>
              <a:t>Razão Pedagógica (Rodapé Fixo):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Identificamos que a escrita nesta etapa é fundamental para você fixar as estruturas aprendidas, expandir vocabulário ativo e diminuir a tradução mental automática do seu idioma nativo.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09728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30000" y="365760"/>
            <a:ext cx="274320" cy="27432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Haas Academia de Idiomas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Slide 17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F35E2"/>
                </a:solidFill>
              </a:defRPr>
            </a:pPr>
            <a:r>
              <a:t>Encerramento — Tarefa de Casa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Ação e Prática Contínua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86000"/>
            <a:ext cx="11247120" cy="3474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4F35E2"/>
                </a:solidFill>
              </a:defRPr>
            </a:pPr>
            <a:r>
              <a:t>Tarefa de Casa: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• [Atividade prática 1 para realizar fora da aula]</a:t>
            </a:r>
            <a:br/>
            <a:r>
              <a:t>• [Atividade de fixação de vocabulário ou escuta]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09728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30000" y="365760"/>
            <a:ext cx="274320" cy="27432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Haas Academia de Idiomas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Slide 18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F35E2"/>
                </a:solidFill>
              </a:defRPr>
            </a:pPr>
            <a:r>
              <a:t>Encerramento &amp; Feedback Rado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Considerações Finais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86000"/>
            <a:ext cx="1124712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4F35E2"/>
                </a:solidFill>
              </a:defRPr>
            </a:pPr>
            <a:r>
              <a:t>Agradecimento: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Obrigado pela dedicação na aula de hoje!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931920"/>
            <a:ext cx="1124712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4F35E2"/>
                </a:solidFill>
              </a:defRPr>
            </a:pPr>
            <a:r>
              <a:t>Espaço para Feedback Rápido: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[Espaço destinado para o professor coletar dúvidas rápidas e considerações do aluno]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