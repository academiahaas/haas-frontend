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731520"/>
            <a:ext cx="5943600" cy="5303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48640"/>
            <a:ext cx="5943600" cy="5303520"/>
          </a:xfrm>
          <a:prstGeom prst="rect">
            <a:avLst/>
          </a:prstGeom>
          <a:solidFill>
            <a:srgbClr val="4F35E2"/>
          </a:solidFill>
          <a:ln w="381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4C8B0"/>
                </a:solidFill>
              </a:defRPr>
            </a:pPr>
            <a:r>
              <a:t>[IMAGEM_HERO_BRUTAL]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566928" y="1481328"/>
            <a:ext cx="566928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57200" y="1371600"/>
            <a:ext cx="5669280" cy="411480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[TÍTULO DA AULA]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[Subtítulo / Descrição da Aula]</a:t>
            </a:r>
            <a:br/>
            <a:br/>
            <a:r>
              <a:t>📅 DATA: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SYSTEM_ACCESS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Rectangle 6"/>
          <p:cNvSpPr/>
          <p:nvPr/>
        </p:nvSpPr>
        <p:spPr>
          <a:xfrm rot="21420000">
            <a:off x="566928" y="1755648"/>
            <a:ext cx="548640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20000">
            <a:off x="457200" y="1645920"/>
            <a:ext cx="5486400" cy="4114800"/>
          </a:xfrm>
          <a:prstGeom prst="rect">
            <a:avLst/>
          </a:prstGeom>
          <a:solidFill>
            <a:srgbClr val="4F35E2"/>
          </a:solidFill>
          <a:ln w="317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14C8B0"/>
                </a:solidFill>
              </a:defRPr>
            </a:pPr>
            <a:r>
              <a:t>DOCENTE: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ectangle 8"/>
          <p:cNvSpPr/>
          <p:nvPr/>
        </p:nvSpPr>
        <p:spPr>
          <a:xfrm rot="120000">
            <a:off x="6327648" y="2121408"/>
            <a:ext cx="548640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">
            <a:off x="6217920" y="2011680"/>
            <a:ext cx="5486400" cy="411480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111827"/>
                </a:solidFill>
              </a:defRPr>
            </a:pPr>
            <a:r>
              <a:t>ESTUDANTE(S):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SLIDE_03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 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WARM-UP // 3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6858000" cy="2286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858000" cy="228600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111827"/>
                </a:solidFill>
              </a:defRPr>
            </a:pPr>
            <a:r>
              <a:t>PERGUNTA PROVOCATIVA: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133088"/>
            <a:ext cx="6858000" cy="2011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685800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FATOR NEURO: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Ativa o córtex pré-frontal e reduz a inibição linguística.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463040"/>
            <a:ext cx="4023360" cy="4572000"/>
          </a:xfrm>
          <a:prstGeom prst="rect">
            <a:avLst/>
          </a:prstGeom>
          <a:solidFill>
            <a:srgbClr val="14C8B0"/>
          </a:solidFill>
          <a:ln w="381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[FOTO_COLUNA]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SLIDE_04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METAS DA AULA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474720" cy="457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474720" cy="457200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600" b="1">
                <a:solidFill>
                  <a:srgbClr val="14C8B0"/>
                </a:solidFill>
              </a:defRPr>
            </a:pPr>
            <a:r>
              <a:t>ESCRITA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Foco na fixação ativa e redução de tradução.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572768"/>
            <a:ext cx="7498079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7498079" cy="13716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01_OBJETIVO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[Descrição da Meta 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3127248"/>
            <a:ext cx="7498079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017520"/>
            <a:ext cx="7498079" cy="137160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02_OBJETIVO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[Descrição da Meta 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4681728"/>
            <a:ext cx="7498079" cy="14630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4572000"/>
            <a:ext cx="7498079" cy="14630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03_OBJETIVO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[Descrição da Meta 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SLIDE_05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5_STEPS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ARQUITETURA HAAS</a:t>
            </a:r>
          </a:p>
        </p:txBody>
      </p:sp>
      <p:sp>
        <p:nvSpPr>
          <p:cNvPr id="7" name="Rectangle 6"/>
          <p:cNvSpPr/>
          <p:nvPr/>
        </p:nvSpPr>
        <p:spPr>
          <a:xfrm rot="21480000">
            <a:off x="566928" y="1572768"/>
            <a:ext cx="365760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457200" y="1463040"/>
            <a:ext cx="3657600" cy="219456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1. FALA ATIVA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Conversação sem julgamentos.</a:t>
            </a:r>
          </a:p>
        </p:txBody>
      </p:sp>
      <p:sp>
        <p:nvSpPr>
          <p:cNvPr id="9" name="Rectangle 8"/>
          <p:cNvSpPr/>
          <p:nvPr/>
        </p:nvSpPr>
        <p:spPr>
          <a:xfrm rot="120000">
            <a:off x="4498848" y="1481328"/>
            <a:ext cx="365760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">
            <a:off x="4389120" y="1371600"/>
            <a:ext cx="3657600" cy="219456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2. EXPOSIÇÃO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Apresentação gramatical leve.</a:t>
            </a:r>
          </a:p>
        </p:txBody>
      </p:sp>
      <p:sp>
        <p:nvSpPr>
          <p:cNvPr id="11" name="Rectangle 10"/>
          <p:cNvSpPr/>
          <p:nvPr/>
        </p:nvSpPr>
        <p:spPr>
          <a:xfrm rot="21540000">
            <a:off x="8339328" y="1664208"/>
            <a:ext cx="347472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540000">
            <a:off x="8229600" y="1554480"/>
            <a:ext cx="3474720" cy="219456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3. PRÁTICA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Exercícios guiados.</a:t>
            </a:r>
          </a:p>
        </p:txBody>
      </p:sp>
      <p:sp>
        <p:nvSpPr>
          <p:cNvPr id="13" name="Rectangle 12"/>
          <p:cNvSpPr/>
          <p:nvPr/>
        </p:nvSpPr>
        <p:spPr>
          <a:xfrm rot="60000">
            <a:off x="1207008" y="4041648"/>
            <a:ext cx="457200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60000">
            <a:off x="1097280" y="3931920"/>
            <a:ext cx="457200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4. CONVERSA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Aplicação no mundo real.</a:t>
            </a:r>
          </a:p>
        </p:txBody>
      </p:sp>
      <p:sp>
        <p:nvSpPr>
          <p:cNvPr id="15" name="Rectangle 14"/>
          <p:cNvSpPr/>
          <p:nvPr/>
        </p:nvSpPr>
        <p:spPr>
          <a:xfrm rot="21480000">
            <a:off x="6053328" y="3950208"/>
            <a:ext cx="576072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80000">
            <a:off x="5943600" y="3840480"/>
            <a:ext cx="5760720" cy="219456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5. ESCRITA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SLIDE_06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TEORIA_PRÁTICA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EXPOSIÇÃO // BLOCO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6858000" cy="457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858000" cy="457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4F35E2"/>
                </a:solidFill>
              </a:defRPr>
            </a:pPr>
            <a:r>
              <a:t>CONCEITO CHAVE: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9248" y="1572768"/>
            <a:ext cx="41148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114800" cy="21031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EXEMPLOS: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[Frases adicionais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3950208"/>
            <a:ext cx="411480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3840480"/>
            <a:ext cx="4114800" cy="219456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NOTAS: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[Exceções e nuances]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SLIDE_07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TEORIA_PRÁTICA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EXPOSIÇÃO // BLOCO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6858000" cy="457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858000" cy="457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4F35E2"/>
                </a:solidFill>
              </a:defRPr>
            </a:pPr>
            <a:r>
              <a:t>CONCEITO CHAVE: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9248" y="1572768"/>
            <a:ext cx="41148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114800" cy="21031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EXEMPLOS: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[Frases adicionais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3950208"/>
            <a:ext cx="411480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3840480"/>
            <a:ext cx="4114800" cy="219456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NOTAS: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[Exceções e nuances]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SLIDE_08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TEORIA_PRÁTICA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EXPOSIÇÃO // BLOCO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6858000" cy="457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858000" cy="457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4F35E2"/>
                </a:solidFill>
              </a:defRPr>
            </a:pPr>
            <a:r>
              <a:t>CONCEITO CHAVE: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9248" y="1572768"/>
            <a:ext cx="41148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114800" cy="21031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EXEMPLOS: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[Frases adicionais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3950208"/>
            <a:ext cx="411480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3840480"/>
            <a:ext cx="4114800" cy="219456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NOTAS: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[Exceções e nuances]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SLIDE_09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841248"/>
            <a:ext cx="112471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31520"/>
            <a:ext cx="112471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400" b="1">
                <a:solidFill>
                  <a:srgbClr val="14C8B0"/>
                </a:solidFill>
              </a:defRPr>
            </a:pPr>
            <a:r>
              <a:t>SÍNTESE DO CONTEÚDO: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41648"/>
            <a:ext cx="11247120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247120" cy="219456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111827"/>
                </a:solidFill>
              </a:defRPr>
            </a:pPr>
            <a:r>
              <a:t>MÍDIA CULTURAL: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SLIDE_10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FIXAÇÃO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PRÁTICA GUIADA 01-05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515600" cy="77724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01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[Preenchimento de lacunas e transformação de estruturas]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1014984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02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[Preenchimento de lacunas e transformação de estruturas]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291840"/>
            <a:ext cx="9784080" cy="77724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03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[Preenchimento de lacunas e transformação de estruturas]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4206240"/>
            <a:ext cx="941832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04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[Preenchimento de lacunas e transformação de estruturas]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5120640"/>
            <a:ext cx="9052560" cy="77724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05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[Preenchimento de lacunas e transformação de estruturas]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SLIDE_11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DESAFIOS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PRÁTICA GUIADA 06-10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515600" cy="7772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06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[Exercício de reestruturação / tradução direta sem literalidade]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1014984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07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[Exercício de reestruturação / tradução direta sem literalidade]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291840"/>
            <a:ext cx="9784080" cy="7772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08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[Exercício de reestruturação / tradução direta sem literalidade]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4206240"/>
            <a:ext cx="941832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09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[Exercício de reestruturação / tradução direta sem literalidade]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5120640"/>
            <a:ext cx="9052560" cy="7772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// 10</a:t>
            </a:r>
          </a:p>
          <a:p>
            <a:pPr>
              <a:spcBef>
                <a:spcPts val="800"/>
              </a:spcBef>
              <a:defRPr sz="1300">
                <a:solidFill>
                  <a:srgbClr val="111827"/>
                </a:solidFill>
              </a:defRPr>
            </a:pPr>
            <a:r>
              <a:t>[Exercício de reestruturação / tradução direta sem literalidade]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01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01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60000">
            <a:off x="6053328" y="3401568"/>
            <a:ext cx="5882335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60000">
            <a:off x="5943600" y="3291840"/>
            <a:ext cx="5882335" cy="2926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LOG_HISTORY: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</a:defRPr>
            </a:pPr>
            <a:r>
              <a:t>[Aguardando primeiras interações para gerar histórico...]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SLIDE_13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02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02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21420000">
            <a:off x="5943600" y="329184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REC_01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SLIDE_14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03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03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21420000">
            <a:off x="5943600" y="329184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REC_01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ectangle 11"/>
          <p:cNvSpPr/>
          <p:nvPr/>
        </p:nvSpPr>
        <p:spPr>
          <a:xfrm rot="180000">
            <a:off x="6080760" y="361188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REC_02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2 sobre o tema]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SLIDE_15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04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04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21420000">
            <a:off x="5943600" y="329184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REC_01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ectangle 11"/>
          <p:cNvSpPr/>
          <p:nvPr/>
        </p:nvSpPr>
        <p:spPr>
          <a:xfrm rot="180000">
            <a:off x="6080760" y="361188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REC_02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Rectangle 12"/>
          <p:cNvSpPr/>
          <p:nvPr/>
        </p:nvSpPr>
        <p:spPr>
          <a:xfrm rot="21420000">
            <a:off x="6217920" y="393192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REC_03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3 sobre o tema]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SLIDE_16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05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05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21420000">
            <a:off x="5943600" y="329184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REC_01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ectangle 11"/>
          <p:cNvSpPr/>
          <p:nvPr/>
        </p:nvSpPr>
        <p:spPr>
          <a:xfrm rot="180000">
            <a:off x="6080760" y="361188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REC_02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Rectangle 12"/>
          <p:cNvSpPr/>
          <p:nvPr/>
        </p:nvSpPr>
        <p:spPr>
          <a:xfrm rot="21420000">
            <a:off x="6217920" y="393192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REC_03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 rot="180000">
            <a:off x="6355080" y="425196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REC_04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4 sobre o tema]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SLIDE_17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06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06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21420000">
            <a:off x="5943600" y="329184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REC_01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ectangle 11"/>
          <p:cNvSpPr/>
          <p:nvPr/>
        </p:nvSpPr>
        <p:spPr>
          <a:xfrm rot="180000">
            <a:off x="6080760" y="361188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REC_02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Rectangle 12"/>
          <p:cNvSpPr/>
          <p:nvPr/>
        </p:nvSpPr>
        <p:spPr>
          <a:xfrm rot="21420000">
            <a:off x="6217920" y="393192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REC_03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 rot="180000">
            <a:off x="6355080" y="425196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REC_04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5" name="Rectangle 14"/>
          <p:cNvSpPr/>
          <p:nvPr/>
        </p:nvSpPr>
        <p:spPr>
          <a:xfrm rot="21420000">
            <a:off x="6492240" y="457200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REC_05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5 sobre o tema]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SLIDE_18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07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07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21420000">
            <a:off x="5943600" y="329184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REC_01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ectangle 11"/>
          <p:cNvSpPr/>
          <p:nvPr/>
        </p:nvSpPr>
        <p:spPr>
          <a:xfrm rot="180000">
            <a:off x="6080760" y="361188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REC_02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Rectangle 12"/>
          <p:cNvSpPr/>
          <p:nvPr/>
        </p:nvSpPr>
        <p:spPr>
          <a:xfrm rot="21420000">
            <a:off x="6217920" y="393192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REC_03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 rot="180000">
            <a:off x="6355080" y="425196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REC_04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5" name="Rectangle 14"/>
          <p:cNvSpPr/>
          <p:nvPr/>
        </p:nvSpPr>
        <p:spPr>
          <a:xfrm rot="21420000">
            <a:off x="6492240" y="457200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REC_05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6" name="Rectangle 15"/>
          <p:cNvSpPr/>
          <p:nvPr/>
        </p:nvSpPr>
        <p:spPr>
          <a:xfrm rot="180000">
            <a:off x="6629400" y="489204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REC_06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6 sobre o tema]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SLIDE_19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FALA_ATIVA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CONVERSAÇÃO // STEP 08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75488" y="1481328"/>
            <a:ext cx="11460175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365760" y="1371600"/>
            <a:ext cx="11460175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PROMPT_ACTIVE // 08</a:t>
            </a:r>
          </a:p>
          <a:p>
            <a:pPr>
              <a:spcBef>
                <a:spcPts val="800"/>
              </a:spcBef>
              <a:defRPr sz="1800">
                <a:solidFill>
                  <a:srgbClr val="111827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401568"/>
            <a:ext cx="5303520" cy="2926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303520" cy="292608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HUD_SUPPORT_PROMPTS: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discordar: "Qual é o outro lado da moeda?"</a:t>
            </a:r>
          </a:p>
        </p:txBody>
      </p:sp>
      <p:sp>
        <p:nvSpPr>
          <p:cNvPr id="11" name="Rectangle 10"/>
          <p:cNvSpPr/>
          <p:nvPr/>
        </p:nvSpPr>
        <p:spPr>
          <a:xfrm rot="21420000">
            <a:off x="5943600" y="329184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REC_01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ectangle 11"/>
          <p:cNvSpPr/>
          <p:nvPr/>
        </p:nvSpPr>
        <p:spPr>
          <a:xfrm rot="180000">
            <a:off x="6080760" y="361188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REC_02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Rectangle 12"/>
          <p:cNvSpPr/>
          <p:nvPr/>
        </p:nvSpPr>
        <p:spPr>
          <a:xfrm rot="21420000">
            <a:off x="6217920" y="393192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REC_03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 rot="180000">
            <a:off x="6355080" y="425196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REC_04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5" name="Rectangle 14"/>
          <p:cNvSpPr/>
          <p:nvPr/>
        </p:nvSpPr>
        <p:spPr>
          <a:xfrm rot="21420000">
            <a:off x="6492240" y="4572000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REC_05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6" name="Rectangle 15"/>
          <p:cNvSpPr/>
          <p:nvPr/>
        </p:nvSpPr>
        <p:spPr>
          <a:xfrm rot="180000">
            <a:off x="6629400" y="4892040"/>
            <a:ext cx="53035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REC_06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7" name="Rectangle 16"/>
          <p:cNvSpPr/>
          <p:nvPr/>
        </p:nvSpPr>
        <p:spPr>
          <a:xfrm rot="21420000">
            <a:off x="6766560" y="5212079"/>
            <a:ext cx="5303520" cy="100584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REC_07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[Pergunta principal 7 sobre o tema]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SLIDE_20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CONSOLIDAÇÃO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1247120" cy="2743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27432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TAREFA_SOLICITADA: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[Instrução detalhada da tarefa: escrever um texto, frases ou diálogo no caderno]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590288"/>
            <a:ext cx="11247120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14C8B0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FUNDAMENTAÇÃO:</a:t>
            </a:r>
          </a:p>
          <a:p>
            <a:pPr>
              <a:spcBef>
                <a:spcPts val="800"/>
              </a:spcBef>
              <a:defRPr sz="1500">
                <a:solidFill>
                  <a:srgbClr val="111827"/>
                </a:solidFill>
              </a:defRPr>
            </a:pPr>
            <a:r>
              <a:t>A escrita é essencial para fixação de estruturas e eliminação da tradução mental.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SLIDE_21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TAREFA DE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1247120" cy="457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solidFill>
            <a:srgbClr val="111827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PRÁTICA_EXTERNA: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[Atividade prática 1 fora da aula]</a:t>
            </a:r>
            <a:br/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4114800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// HAAS_BRUTALISM_v15 // SLIDE_22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74320"/>
            <a:ext cx="201168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FINAL_STEP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ENCERRAMENTO &amp; FEEDBACK</a:t>
            </a:r>
          </a:p>
        </p:txBody>
      </p:sp>
      <p:sp>
        <p:nvSpPr>
          <p:cNvPr id="7" name="Rectangle 6"/>
          <p:cNvSpPr/>
          <p:nvPr/>
        </p:nvSpPr>
        <p:spPr>
          <a:xfrm rot="21480000">
            <a:off x="566928" y="1572768"/>
            <a:ext cx="5486400" cy="457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457200" y="1463040"/>
            <a:ext cx="5486400" cy="4572000"/>
          </a:xfrm>
          <a:prstGeom prst="rect">
            <a:avLst/>
          </a:prstGeom>
          <a:solidFill>
            <a:srgbClr val="4F35E2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800" b="1">
                <a:solidFill>
                  <a:srgbClr val="14C8B0"/>
                </a:solidFill>
              </a:defRPr>
            </a:pPr>
            <a:r>
              <a:t>MUITO OBRIGADO!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Sua evolução depende da sua prática constante.</a:t>
            </a:r>
          </a:p>
        </p:txBody>
      </p:sp>
      <p:sp>
        <p:nvSpPr>
          <p:cNvPr id="9" name="Rectangle 8"/>
          <p:cNvSpPr/>
          <p:nvPr/>
        </p:nvSpPr>
        <p:spPr>
          <a:xfrm rot="120000">
            <a:off x="6327648" y="1572768"/>
            <a:ext cx="5486400" cy="457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">
            <a:off x="6217920" y="1463040"/>
            <a:ext cx="5486400" cy="4572000"/>
          </a:xfrm>
          <a:prstGeom prst="rect">
            <a:avLst/>
          </a:prstGeom>
          <a:solidFill>
            <a:srgbClr val="F59E0B"/>
          </a:solidFill>
          <a:ln w="317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200" b="1">
                <a:solidFill>
                  <a:srgbClr val="111827"/>
                </a:solidFill>
              </a:defRPr>
            </a:pPr>
            <a:r>
              <a:t>FEEDBACK_RÁPIDO: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[Espaço destinado para o professor coletar dúvidas finais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