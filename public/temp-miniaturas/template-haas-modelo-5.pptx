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4F35E2"/>
                </a:solidFill>
              </a:defRPr>
            </a:pPr>
            <a:r>
              <a:t>[Título da Aula / Tema Principal]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[Subtítulo / Descrição da Aula]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C8B0"/>
                </a:solidFill>
              </a:defRPr>
            </a:pPr>
            <a:r>
              <a:t>📅 Data da Aula: [DD/MM/AAAA]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280160"/>
            <a:ext cx="5029200" cy="484632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Editorial da Capa]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2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13716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11247120" cy="3291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3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943600" cy="29260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0560"/>
            <a:ext cx="594360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371600"/>
            <a:ext cx="5029200" cy="484632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de Aquecimento]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4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3017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Metas da Aula: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• [Objetivo 1]</a:t>
            </a:r>
            <a:br/>
            <a:r>
              <a:t>• [Objetivo 2]</a:t>
            </a:r>
            <a:br/>
            <a:r>
              <a:t>• [Objetivo 3]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11247120" cy="16459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5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Estrutura Fixa de Aprendizado Haas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205740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1. Fala Ativa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371600"/>
            <a:ext cx="20574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2. Exposição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371600"/>
            <a:ext cx="205740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3. Prática Guiada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Exercícios com suporte do professor.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371600"/>
            <a:ext cx="20574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4. Conversação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Aplicação prática das estruturas.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1371600"/>
            <a:ext cx="205740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5. Escrita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Consolidação e redução de tradução.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6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685800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371600"/>
            <a:ext cx="411480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840480"/>
            <a:ext cx="411480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7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685800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371600"/>
            <a:ext cx="411480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840480"/>
            <a:ext cx="411480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8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685800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371600"/>
            <a:ext cx="411480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840480"/>
            <a:ext cx="411480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[Exceções, nuances gramaticais e contexto]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9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Sugestão Cultural: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r>
              <a:t>O professor pode rodar o áudio/vídeo ou deixar como recomendação extra.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10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Exercícios 1 a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Correção de Vícios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486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82880" rIns="182880" bIns="9144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1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5486400" cy="109728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4572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486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82880" rIns="182880" bIns="9144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2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486400" cy="109728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600200"/>
            <a:ext cx="4572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26080"/>
            <a:ext cx="5486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82880" rIns="182880" bIns="9144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3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26080"/>
            <a:ext cx="5486400" cy="109728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154680"/>
            <a:ext cx="4572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5486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82880" rIns="182880" bIns="9144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4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5486400" cy="109728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154680"/>
            <a:ext cx="4572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47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82880" rIns="182880" bIns="9144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5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480560"/>
            <a:ext cx="11247120" cy="109728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709160"/>
            <a:ext cx="4572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11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Exercícios 6 a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Desafios Práticos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486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82880" rIns="182880" bIns="9144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6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5486400" cy="109728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4572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486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82880" rIns="182880" bIns="9144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7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486400" cy="109728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600200"/>
            <a:ext cx="4572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07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26080"/>
            <a:ext cx="5486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82880" rIns="182880" bIns="9144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8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26080"/>
            <a:ext cx="5486400" cy="109728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154680"/>
            <a:ext cx="4572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08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5486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82880" rIns="182880" bIns="9144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9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5486400" cy="109728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154680"/>
            <a:ext cx="4572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09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47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85800" tIns="182880" rIns="182880" bIns="9144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Exercício 10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480560"/>
            <a:ext cx="11247120" cy="109728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709160"/>
            <a:ext cx="4572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12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24688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8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1124712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5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13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14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5498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9340" y="1371600"/>
            <a:ext cx="555498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15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6576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71600"/>
            <a:ext cx="36576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6576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16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70891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03270" y="1371600"/>
            <a:ext cx="270891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9340" y="1371600"/>
            <a:ext cx="270891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5410" y="1371600"/>
            <a:ext cx="270891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17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139696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4056" y="1371600"/>
            <a:ext cx="2139696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10912" y="1371600"/>
            <a:ext cx="2139696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87768" y="1371600"/>
            <a:ext cx="2139696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64624" y="1371600"/>
            <a:ext cx="2139696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18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76022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4580" y="1371600"/>
            <a:ext cx="176022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176022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1371600"/>
            <a:ext cx="176022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176022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4100" y="1371600"/>
            <a:ext cx="176022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19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489165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83525" y="1371600"/>
            <a:ext cx="1489165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9851" y="1371600"/>
            <a:ext cx="1489165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6177" y="1371600"/>
            <a:ext cx="1489165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2502" y="1371600"/>
            <a:ext cx="1489165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88828" y="1371600"/>
            <a:ext cx="1489165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15154" y="1371600"/>
            <a:ext cx="1489165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20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11247120" cy="21031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21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828800" cy="50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0" y="182880"/>
            <a:ext cx="54864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STUDIO BOLD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22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11247120" cy="2743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