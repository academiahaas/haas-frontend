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rot="16200000">
            <a:off x="0" y="0"/>
            <a:ext cx="1371600" cy="1371600"/>
          </a:xfrm>
          <a:prstGeom prst="rtTriangl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4114800" cy="6400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 rot="5400000">
            <a:off x="11277295" y="5943600"/>
            <a:ext cx="914400" cy="914400"/>
          </a:xfrm>
          <a:prstGeom prst="rtTriangl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sosceles Triangle 4"/>
          <p:cNvSpPr/>
          <p:nvPr/>
        </p:nvSpPr>
        <p:spPr>
          <a:xfrm rot="10800000">
            <a:off x="10058400" y="0"/>
            <a:ext cx="2133295" cy="731520"/>
          </a:xfrm>
          <a:prstGeom prst="triangle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HAAS LANGUAGE  •  PICASSO CUBISM EDITION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334155"/>
                </a:solidFill>
              </a:defRPr>
            </a:pPr>
            <a:r>
              <a:t>SLIDE 1 / 22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508760"/>
            <a:ext cx="5029200" cy="475488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5029200" cy="4754880"/>
          </a:xfrm>
          <a:prstGeom prst="rect">
            <a:avLst/>
          </a:prstGeom>
          <a:solidFill>
            <a:srgbClr val="4F35E2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[Imagem Cubista / Arte]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1463040"/>
            <a:ext cx="5760720" cy="18288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0" y="1371600"/>
            <a:ext cx="576072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3600" b="1">
                <a:solidFill>
                  <a:srgbClr val="4F35E2"/>
                </a:solidFill>
              </a:defRPr>
            </a:pPr>
            <a:r>
              <a:t>[Título da Aula / Tema Principal]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3566160"/>
            <a:ext cx="5760720" cy="109728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0" y="3474720"/>
            <a:ext cx="5760720" cy="1097280"/>
          </a:xfrm>
          <a:prstGeom prst="rect">
            <a:avLst/>
          </a:prstGeom>
          <a:solidFill>
            <a:srgbClr val="1E3A8A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[Subtítulo / Descrição da Aula]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4937760"/>
            <a:ext cx="5760720" cy="7315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0" y="4846320"/>
            <a:ext cx="576072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 rIns="109728" bIns="109728"/>
          <a:lstStyle/>
          <a:p>
            <a:pPr algn="ctr">
              <a:defRPr sz="1600" b="1">
                <a:solidFill>
                  <a:srgbClr val="14C8B0"/>
                </a:solidFill>
              </a:defRPr>
            </a:pPr>
            <a:r>
              <a:t>📅 Data da Aula: [DD/MM/AAAA]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rot="16200000">
            <a:off x="0" y="0"/>
            <a:ext cx="1371600" cy="1371600"/>
          </a:xfrm>
          <a:prstGeom prst="rtTriangl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4114800" cy="6400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 rot="5400000">
            <a:off x="11277295" y="5943600"/>
            <a:ext cx="914400" cy="914400"/>
          </a:xfrm>
          <a:prstGeom prst="rtTriangl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sosceles Triangle 4"/>
          <p:cNvSpPr/>
          <p:nvPr/>
        </p:nvSpPr>
        <p:spPr>
          <a:xfrm rot="10800000">
            <a:off x="10058400" y="0"/>
            <a:ext cx="2133295" cy="731520"/>
          </a:xfrm>
          <a:prstGeom prst="triangle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HAAS LANGUAGE  •  PICASSO CUBISM EDITION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334155"/>
                </a:solidFill>
              </a:defRPr>
            </a:pPr>
            <a:r>
              <a:t>SLIDE 2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8288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F35E2"/>
                </a:solidFill>
              </a:defRPr>
            </a:pPr>
            <a:r>
              <a:t>Presença &amp; Integrantes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463040"/>
            <a:ext cx="11247120" cy="13716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371600"/>
            <a:ext cx="11247120" cy="1371600"/>
          </a:xfrm>
          <a:prstGeom prst="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Professor(a):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[Nome do(a) Professor(a)]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200400"/>
            <a:ext cx="11247120" cy="310896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108960"/>
            <a:ext cx="11247120" cy="3108960"/>
          </a:xfrm>
          <a:prstGeom prst="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Aluno(s):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[Nome do Aluno / Lista da Turma]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rot="16200000">
            <a:off x="0" y="0"/>
            <a:ext cx="1371600" cy="1371600"/>
          </a:xfrm>
          <a:prstGeom prst="rtTriangl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4114800" cy="6400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 rot="5400000">
            <a:off x="11277295" y="5943600"/>
            <a:ext cx="914400" cy="914400"/>
          </a:xfrm>
          <a:prstGeom prst="rtTriangl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sosceles Triangle 4"/>
          <p:cNvSpPr/>
          <p:nvPr/>
        </p:nvSpPr>
        <p:spPr>
          <a:xfrm rot="10800000">
            <a:off x="10058400" y="0"/>
            <a:ext cx="2133295" cy="731520"/>
          </a:xfrm>
          <a:prstGeom prst="triangle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HAAS LANGUAGE  •  PICASSO CUBISM EDITION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334155"/>
                </a:solidFill>
              </a:defRPr>
            </a:pPr>
            <a:r>
              <a:t>SLIDE 3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8288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F35E2"/>
                </a:solidFill>
              </a:defRPr>
            </a:pPr>
            <a:r>
              <a:t>Aquecimento / Warm-up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777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3A8A"/>
                </a:solidFill>
              </a:defRPr>
            </a:pPr>
            <a:r>
              <a:t>Foco 100% na Fala (3 Minutos)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463040"/>
            <a:ext cx="6400800" cy="219456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371600"/>
            <a:ext cx="6400800" cy="2194560"/>
          </a:xfrm>
          <a:prstGeom prst="rect">
            <a:avLst/>
          </a:prstGeom>
          <a:solidFill>
            <a:srgbClr val="4F35E2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2000" b="1">
                <a:solidFill>
                  <a:srgbClr val="14C8B0"/>
                </a:solidFill>
              </a:defRPr>
            </a:pPr>
            <a:r>
              <a:t>Pergunta Provocativa Rápida: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</a:defRPr>
            </a:pPr>
            <a:r>
              <a:t>[Insira aqui a pergunta provocativa de aquecimento]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023360"/>
            <a:ext cx="6400800" cy="164592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931920"/>
            <a:ext cx="6400800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400">
                <a:solidFill>
                  <a:srgbClr val="334155"/>
                </a:solidFill>
              </a:defRPr>
            </a:pPr>
            <a:r>
              <a:t>Ativa o córtex pré-frontal e reduz a inibição linguística inicial.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52360" y="1508760"/>
            <a:ext cx="4389120" cy="420624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0" y="1371600"/>
            <a:ext cx="4389120" cy="4206240"/>
          </a:xfrm>
          <a:prstGeom prst="rect">
            <a:avLst/>
          </a:prstGeom>
          <a:solidFill>
            <a:srgbClr val="4F35E2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[Imagem Warm-up]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rot="16200000">
            <a:off x="0" y="0"/>
            <a:ext cx="1371600" cy="1371600"/>
          </a:xfrm>
          <a:prstGeom prst="rtTriangl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4114800" cy="6400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 rot="5400000">
            <a:off x="11277295" y="5943600"/>
            <a:ext cx="914400" cy="914400"/>
          </a:xfrm>
          <a:prstGeom prst="rtTriangl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sosceles Triangle 4"/>
          <p:cNvSpPr/>
          <p:nvPr/>
        </p:nvSpPr>
        <p:spPr>
          <a:xfrm rot="10800000">
            <a:off x="10058400" y="0"/>
            <a:ext cx="2133295" cy="731520"/>
          </a:xfrm>
          <a:prstGeom prst="triangle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HAAS LANGUAGE  •  PICASSO CUBISM EDITION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334155"/>
                </a:solidFill>
              </a:defRPr>
            </a:pPr>
            <a:r>
              <a:t>SLIDE 4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8288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F35E2"/>
                </a:solidFill>
              </a:defRPr>
            </a:pPr>
            <a:r>
              <a:t>Objetivos da Aula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463040"/>
            <a:ext cx="6858000" cy="4846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371600"/>
            <a:ext cx="6858000" cy="4846320"/>
          </a:xfrm>
          <a:prstGeom prst="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Metas da Aula: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• [Objetivo 1]</a:t>
            </a:r>
            <a:br/>
            <a:r>
              <a:t>• [Objetivo 2]</a:t>
            </a:r>
            <a:br/>
            <a:r>
              <a:t>• [Objetivo 3]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0" y="1463040"/>
            <a:ext cx="4023360" cy="484632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680960" y="1371600"/>
            <a:ext cx="4023360" cy="4846320"/>
          </a:xfrm>
          <a:prstGeom prst="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Nota de Escrita: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Nesta aula daremos atenção à escrita para reforçar a memorização de estruturas/vocabulário e reduzir a interferência da língua materna.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rot="16200000">
            <a:off x="0" y="0"/>
            <a:ext cx="1371600" cy="1371600"/>
          </a:xfrm>
          <a:prstGeom prst="rtTriangl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4114800" cy="6400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 rot="5400000">
            <a:off x="11277295" y="5943600"/>
            <a:ext cx="914400" cy="914400"/>
          </a:xfrm>
          <a:prstGeom prst="rtTriangl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sosceles Triangle 4"/>
          <p:cNvSpPr/>
          <p:nvPr/>
        </p:nvSpPr>
        <p:spPr>
          <a:xfrm rot="10800000">
            <a:off x="10058400" y="0"/>
            <a:ext cx="2133295" cy="731520"/>
          </a:xfrm>
          <a:prstGeom prst="triangle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HAAS LANGUAGE  •  PICASSO CUBISM EDITION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334155"/>
                </a:solidFill>
              </a:defRPr>
            </a:pPr>
            <a:r>
              <a:t>SLIDE 5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8288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F35E2"/>
                </a:solidFill>
              </a:defRPr>
            </a:pPr>
            <a:r>
              <a:t>A Nossa Metodologia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777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3A8A"/>
                </a:solidFill>
              </a:defRPr>
            </a:pPr>
            <a:r>
              <a:t>Estrutura Fixa de Aprendizado Haas Language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371600"/>
            <a:ext cx="5303520" cy="2286000"/>
          </a:xfrm>
          <a:prstGeom prst="rect">
            <a:avLst/>
          </a:prstGeom>
          <a:solidFill>
            <a:srgbClr val="4F35E2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600" b="1">
                <a:solidFill>
                  <a:srgbClr val="14C8B0"/>
                </a:solidFill>
              </a:defRPr>
            </a:pPr>
            <a:r>
              <a:t>1. Fala Ativa</a:t>
            </a:r>
          </a:p>
          <a:p>
            <a:pPr>
              <a:spcBef>
                <a:spcPts val="600"/>
              </a:spcBef>
              <a:defRPr sz="1400">
                <a:solidFill>
                  <a:srgbClr val="FFFFFF"/>
                </a:solidFill>
              </a:defRPr>
            </a:pPr>
            <a:r>
              <a:t>Conversação inicial sem julgamentos.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371600"/>
            <a:ext cx="5760720" cy="2286000"/>
          </a:xfrm>
          <a:prstGeom prst="rect">
            <a:avLst/>
          </a:prstGeom>
          <a:solidFill>
            <a:srgbClr val="14C8B0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2. Exposição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Apresentação leve da gramática.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840480"/>
            <a:ext cx="3474720" cy="2377440"/>
          </a:xfrm>
          <a:prstGeom prst="rect">
            <a:avLst/>
          </a:prstGeom>
          <a:solidFill>
            <a:srgbClr val="1E3A8A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600" b="1">
                <a:solidFill>
                  <a:srgbClr val="14C8B0"/>
                </a:solidFill>
              </a:defRPr>
            </a:pPr>
            <a:r>
              <a:t>3. Prática</a:t>
            </a:r>
          </a:p>
          <a:p>
            <a:pPr>
              <a:spcBef>
                <a:spcPts val="600"/>
              </a:spcBef>
              <a:defRPr sz="1400">
                <a:solidFill>
                  <a:srgbClr val="FFFFFF"/>
                </a:solidFill>
              </a:defRPr>
            </a:pPr>
            <a:r>
              <a:t>Exercícios com suporte.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0" y="3840480"/>
            <a:ext cx="3657600" cy="2377440"/>
          </a:xfrm>
          <a:prstGeom prst="rect">
            <a:avLst/>
          </a:prstGeom>
          <a:solidFill>
            <a:srgbClr val="EDE9FE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4. Conversação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Aplicação prática das estruturas.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55279" y="3840480"/>
            <a:ext cx="3749039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600" b="1">
                <a:solidFill>
                  <a:srgbClr val="1E3A8A"/>
                </a:solidFill>
              </a:defRPr>
            </a:pPr>
            <a:r>
              <a:t>5. Escrita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Consolidação visual.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rot="16200000">
            <a:off x="0" y="0"/>
            <a:ext cx="1371600" cy="1371600"/>
          </a:xfrm>
          <a:prstGeom prst="rtTriangl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4114800" cy="6400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 rot="5400000">
            <a:off x="11277295" y="5943600"/>
            <a:ext cx="914400" cy="914400"/>
          </a:xfrm>
          <a:prstGeom prst="rtTriangl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sosceles Triangle 4"/>
          <p:cNvSpPr/>
          <p:nvPr/>
        </p:nvSpPr>
        <p:spPr>
          <a:xfrm rot="10800000">
            <a:off x="10058400" y="0"/>
            <a:ext cx="2133295" cy="731520"/>
          </a:xfrm>
          <a:prstGeom prst="triangle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HAAS LANGUAGE  •  PICASSO CUBISM EDITION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334155"/>
                </a:solidFill>
              </a:defRPr>
            </a:pPr>
            <a:r>
              <a:t>SLIDE 6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8288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F35E2"/>
                </a:solidFill>
              </a:defRPr>
            </a:pPr>
            <a:r>
              <a:t>Explicação do Tema — Parte 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463040"/>
            <a:ext cx="11247120" cy="22860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371600"/>
            <a:ext cx="11247120" cy="2286000"/>
          </a:xfrm>
          <a:prstGeom prst="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2000" b="1">
                <a:solidFill>
                  <a:srgbClr val="4F35E2"/>
                </a:solidFill>
              </a:defRPr>
            </a:pPr>
            <a:r>
              <a:t>Conteúdo Principal:</a:t>
            </a:r>
          </a:p>
          <a:p>
            <a:pPr>
              <a:spcBef>
                <a:spcPts val="600"/>
              </a:spcBef>
              <a:defRPr sz="1500">
                <a:solidFill>
                  <a:srgbClr val="334155"/>
                </a:solidFill>
              </a:defRPr>
            </a:pPr>
            <a:r>
              <a:t>[Explicação e exemplo central da estrutura - Bloco 1]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114800"/>
            <a:ext cx="5486400" cy="219456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4023360"/>
            <a:ext cx="5486400" cy="2194560"/>
          </a:xfrm>
          <a:prstGeom prst="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Exemplos Práticos: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[Exemplos adicionais e frases do dia a dia]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4114800"/>
            <a:ext cx="5486400" cy="219456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4023360"/>
            <a:ext cx="5486400" cy="2194560"/>
          </a:xfrm>
          <a:prstGeom prst="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Notas &amp; Detalhes: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[Exceções, nuances gramaticais e contexto de uso]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rot="16200000">
            <a:off x="0" y="0"/>
            <a:ext cx="1371600" cy="1371600"/>
          </a:xfrm>
          <a:prstGeom prst="rtTriangl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4114800" cy="6400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 rot="5400000">
            <a:off x="11277295" y="5943600"/>
            <a:ext cx="914400" cy="914400"/>
          </a:xfrm>
          <a:prstGeom prst="rtTriangl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sosceles Triangle 4"/>
          <p:cNvSpPr/>
          <p:nvPr/>
        </p:nvSpPr>
        <p:spPr>
          <a:xfrm rot="10800000">
            <a:off x="10058400" y="0"/>
            <a:ext cx="2133295" cy="731520"/>
          </a:xfrm>
          <a:prstGeom prst="triangle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HAAS LANGUAGE  •  PICASSO CUBISM EDITION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334155"/>
                </a:solidFill>
              </a:defRPr>
            </a:pPr>
            <a:r>
              <a:t>SLIDE 7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8288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F35E2"/>
                </a:solidFill>
              </a:defRPr>
            </a:pPr>
            <a:r>
              <a:t>Explicação do Tema — Parte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463040"/>
            <a:ext cx="11247120" cy="22860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371600"/>
            <a:ext cx="11247120" cy="2286000"/>
          </a:xfrm>
          <a:prstGeom prst="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2000" b="1">
                <a:solidFill>
                  <a:srgbClr val="4F35E2"/>
                </a:solidFill>
              </a:defRPr>
            </a:pPr>
            <a:r>
              <a:t>Conteúdo Principal:</a:t>
            </a:r>
          </a:p>
          <a:p>
            <a:pPr>
              <a:spcBef>
                <a:spcPts val="600"/>
              </a:spcBef>
              <a:defRPr sz="1500">
                <a:solidFill>
                  <a:srgbClr val="334155"/>
                </a:solidFill>
              </a:defRPr>
            </a:pPr>
            <a:r>
              <a:t>[Explicação e exemplo central da estrutura - Bloco 2]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114800"/>
            <a:ext cx="5486400" cy="219456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4023360"/>
            <a:ext cx="5486400" cy="2194560"/>
          </a:xfrm>
          <a:prstGeom prst="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Exemplos Práticos: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[Exemplos adicionais e frases do dia a dia]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4114800"/>
            <a:ext cx="5486400" cy="219456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4023360"/>
            <a:ext cx="5486400" cy="2194560"/>
          </a:xfrm>
          <a:prstGeom prst="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Notas &amp; Detalhes: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[Exceções, nuances gramaticais e contexto de uso]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rot="16200000">
            <a:off x="0" y="0"/>
            <a:ext cx="1371600" cy="1371600"/>
          </a:xfrm>
          <a:prstGeom prst="rtTriangl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4114800" cy="6400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 rot="5400000">
            <a:off x="11277295" y="5943600"/>
            <a:ext cx="914400" cy="914400"/>
          </a:xfrm>
          <a:prstGeom prst="rtTriangl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sosceles Triangle 4"/>
          <p:cNvSpPr/>
          <p:nvPr/>
        </p:nvSpPr>
        <p:spPr>
          <a:xfrm rot="10800000">
            <a:off x="10058400" y="0"/>
            <a:ext cx="2133295" cy="731520"/>
          </a:xfrm>
          <a:prstGeom prst="triangle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HAAS LANGUAGE  •  PICASSO CUBISM EDITION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334155"/>
                </a:solidFill>
              </a:defRPr>
            </a:pPr>
            <a:r>
              <a:t>SLIDE 8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8288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F35E2"/>
                </a:solidFill>
              </a:defRPr>
            </a:pPr>
            <a:r>
              <a:t>Explicação do Tema — Parte 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463040"/>
            <a:ext cx="11247120" cy="22860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371600"/>
            <a:ext cx="11247120" cy="2286000"/>
          </a:xfrm>
          <a:prstGeom prst="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2000" b="1">
                <a:solidFill>
                  <a:srgbClr val="4F35E2"/>
                </a:solidFill>
              </a:defRPr>
            </a:pPr>
            <a:r>
              <a:t>Conteúdo Principal:</a:t>
            </a:r>
          </a:p>
          <a:p>
            <a:pPr>
              <a:spcBef>
                <a:spcPts val="600"/>
              </a:spcBef>
              <a:defRPr sz="1500">
                <a:solidFill>
                  <a:srgbClr val="334155"/>
                </a:solidFill>
              </a:defRPr>
            </a:pPr>
            <a:r>
              <a:t>[Explicação e exemplo central da estrutura - Bloco 3]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114800"/>
            <a:ext cx="5486400" cy="219456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4023360"/>
            <a:ext cx="5486400" cy="2194560"/>
          </a:xfrm>
          <a:prstGeom prst="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Exemplos Práticos: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[Exemplos adicionais e frases do dia a dia]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4114800"/>
            <a:ext cx="5486400" cy="219456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4023360"/>
            <a:ext cx="5486400" cy="2194560"/>
          </a:xfrm>
          <a:prstGeom prst="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Notas &amp; Detalhes: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[Exceções, nuances gramaticais e contexto de uso]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rot="16200000">
            <a:off x="0" y="0"/>
            <a:ext cx="1371600" cy="1371600"/>
          </a:xfrm>
          <a:prstGeom prst="rtTriangl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4114800" cy="6400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 rot="5400000">
            <a:off x="11277295" y="5943600"/>
            <a:ext cx="914400" cy="914400"/>
          </a:xfrm>
          <a:prstGeom prst="rtTriangl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sosceles Triangle 4"/>
          <p:cNvSpPr/>
          <p:nvPr/>
        </p:nvSpPr>
        <p:spPr>
          <a:xfrm rot="10800000">
            <a:off x="10058400" y="0"/>
            <a:ext cx="2133295" cy="731520"/>
          </a:xfrm>
          <a:prstGeom prst="triangle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HAAS LANGUAGE  •  PICASSO CUBISM EDITION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334155"/>
                </a:solidFill>
              </a:defRPr>
            </a:pPr>
            <a:r>
              <a:t>SLIDE 9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8288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F35E2"/>
                </a:solidFill>
              </a:defRPr>
            </a:pPr>
            <a:r>
              <a:t>Síntese do Conteúdo &amp; Sugestão Cultural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463040"/>
            <a:ext cx="5486400" cy="4846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371600"/>
            <a:ext cx="5486400" cy="4846320"/>
          </a:xfrm>
          <a:prstGeom prst="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Resumo do Tema: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[Resumo sintético dos pontos chave ensinados na aula]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463040"/>
            <a:ext cx="5486400" cy="484632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371600"/>
            <a:ext cx="5486400" cy="4846320"/>
          </a:xfrm>
          <a:prstGeom prst="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Sugestão Cultural: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🎵 [Nome da Música / Vídeo recomendado sobre o assunto].</a:t>
            </a:r>
            <a:br/>
            <a:br/>
            <a:r>
              <a:t>O professor pode rodar o áudio/vídeo ou deixar como recomendação extra para o aluno praticar.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rot="16200000">
            <a:off x="0" y="0"/>
            <a:ext cx="1371600" cy="1371600"/>
          </a:xfrm>
          <a:prstGeom prst="rtTriangl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4114800" cy="6400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 rot="5400000">
            <a:off x="11277295" y="5943600"/>
            <a:ext cx="914400" cy="914400"/>
          </a:xfrm>
          <a:prstGeom prst="rtTriangl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sosceles Triangle 4"/>
          <p:cNvSpPr/>
          <p:nvPr/>
        </p:nvSpPr>
        <p:spPr>
          <a:xfrm rot="10800000">
            <a:off x="10058400" y="0"/>
            <a:ext cx="2133295" cy="731520"/>
          </a:xfrm>
          <a:prstGeom prst="triangle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HAAS LANGUAGE  •  PICASSO CUBISM EDITION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334155"/>
                </a:solidFill>
              </a:defRPr>
            </a:pPr>
            <a:r>
              <a:t>SLIDE 10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8288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F35E2"/>
                </a:solidFill>
              </a:defRPr>
            </a:pPr>
            <a:r>
              <a:t>Prática Guiada — Exercícios 1 a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777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3A8A"/>
                </a:solidFill>
              </a:defRPr>
            </a:pPr>
            <a:r>
              <a:t>Correção de Vícios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371600"/>
            <a:ext cx="1124712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0" tIns="137160" rIns="182880" bIns="109728"/>
          <a:lstStyle/>
          <a:p>
            <a:pPr algn="ctr">
              <a:defRPr sz="1400" b="0">
                <a:solidFill>
                  <a:srgbClr val="334155"/>
                </a:solidFill>
              </a:defRPr>
            </a:pPr>
            <a:r>
              <a:t>[Lacunas contextualizadas com opções]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371600"/>
            <a:ext cx="502920" cy="41148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651760"/>
            <a:ext cx="5486400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0" tIns="137160" rIns="182880" bIns="109728"/>
          <a:lstStyle/>
          <a:p>
            <a:pPr algn="ctr">
              <a:defRPr sz="1400" b="0">
                <a:solidFill>
                  <a:srgbClr val="334155"/>
                </a:solidFill>
              </a:defRPr>
            </a:pPr>
            <a:r>
              <a:t>[Lacunas contextualizadas com opções]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651760"/>
            <a:ext cx="502920" cy="4114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2651760"/>
            <a:ext cx="5486400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0" tIns="137160" rIns="182880" bIns="109728"/>
          <a:lstStyle/>
          <a:p>
            <a:pPr algn="ctr">
              <a:defRPr sz="1400" b="0">
                <a:solidFill>
                  <a:srgbClr val="334155"/>
                </a:solidFill>
              </a:defRPr>
            </a:pPr>
            <a:r>
              <a:t>[Preenchimento direto de verbos]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2651760"/>
            <a:ext cx="502920" cy="4114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480560"/>
            <a:ext cx="548640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0" tIns="137160" rIns="182880" bIns="109728"/>
          <a:lstStyle/>
          <a:p>
            <a:pPr algn="ctr">
              <a:defRPr sz="1400" b="0">
                <a:solidFill>
                  <a:srgbClr val="334155"/>
                </a:solidFill>
              </a:defRPr>
            </a:pPr>
            <a:r>
              <a:t>[Reestruturação / Transformação de frase]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480560"/>
            <a:ext cx="502920" cy="41148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4480560"/>
            <a:ext cx="548640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0" tIns="137160" rIns="182880" bIns="109728"/>
          <a:lstStyle/>
          <a:p>
            <a:pPr algn="ctr">
              <a:defRPr sz="1400" b="0">
                <a:solidFill>
                  <a:srgbClr val="334155"/>
                </a:solidFill>
              </a:defRPr>
            </a:pPr>
            <a:r>
              <a:t>[Reestruturação / Transformação de frase]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4480560"/>
            <a:ext cx="502920" cy="41148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rot="16200000">
            <a:off x="0" y="0"/>
            <a:ext cx="1371600" cy="1371600"/>
          </a:xfrm>
          <a:prstGeom prst="rtTriangl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4114800" cy="6400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 rot="5400000">
            <a:off x="11277295" y="5943600"/>
            <a:ext cx="914400" cy="914400"/>
          </a:xfrm>
          <a:prstGeom prst="rtTriangl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sosceles Triangle 4"/>
          <p:cNvSpPr/>
          <p:nvPr/>
        </p:nvSpPr>
        <p:spPr>
          <a:xfrm rot="10800000">
            <a:off x="10058400" y="0"/>
            <a:ext cx="2133295" cy="731520"/>
          </a:xfrm>
          <a:prstGeom prst="triangle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HAAS LANGUAGE  •  PICASSO CUBISM EDITION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334155"/>
                </a:solidFill>
              </a:defRPr>
            </a:pPr>
            <a:r>
              <a:t>SLIDE 11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8288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F35E2"/>
                </a:solidFill>
              </a:defRPr>
            </a:pPr>
            <a:r>
              <a:t>Prática Guiada — Exercícios 6 a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777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3A8A"/>
                </a:solidFill>
              </a:defRPr>
            </a:pPr>
            <a:r>
              <a:t>Desafios Práticos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371600"/>
            <a:ext cx="1124712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0" tIns="137160" rIns="182880" bIns="109728"/>
          <a:lstStyle/>
          <a:p>
            <a:pPr algn="ctr">
              <a:defRPr sz="1400" b="0">
                <a:solidFill>
                  <a:srgbClr val="334155"/>
                </a:solidFill>
              </a:defRPr>
            </a:pPr>
            <a:r>
              <a:t>[Preposição / Conector correto]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371600"/>
            <a:ext cx="502920" cy="41148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651760"/>
            <a:ext cx="5486400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0" tIns="137160" rIns="182880" bIns="109728"/>
          <a:lstStyle/>
          <a:p>
            <a:pPr algn="ctr">
              <a:defRPr sz="1400" b="0">
                <a:solidFill>
                  <a:srgbClr val="334155"/>
                </a:solidFill>
              </a:defRPr>
            </a:pPr>
            <a:r>
              <a:t>[Escolha da opção correta]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651760"/>
            <a:ext cx="502920" cy="41148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2651760"/>
            <a:ext cx="5486400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0" tIns="137160" rIns="182880" bIns="109728"/>
          <a:lstStyle/>
          <a:p>
            <a:pPr algn="ctr">
              <a:defRPr sz="1400" b="0">
                <a:solidFill>
                  <a:srgbClr val="334155"/>
                </a:solidFill>
              </a:defRPr>
            </a:pPr>
            <a:r>
              <a:t>[Substituição por sinônimo formal]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2651760"/>
            <a:ext cx="502920" cy="41148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480560"/>
            <a:ext cx="548640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0" tIns="137160" rIns="182880" bIns="109728"/>
          <a:lstStyle/>
          <a:p>
            <a:pPr algn="ctr">
              <a:defRPr sz="1400" b="0">
                <a:solidFill>
                  <a:srgbClr val="334155"/>
                </a:solidFill>
              </a:defRPr>
            </a:pPr>
            <a:r>
              <a:t>[Identificação de erro e correção]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480560"/>
            <a:ext cx="502920" cy="4114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09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4480560"/>
            <a:ext cx="548640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0" tIns="137160" rIns="182880" bIns="109728"/>
          <a:lstStyle/>
          <a:p>
            <a:pPr algn="ctr">
              <a:defRPr sz="1400" b="0">
                <a:solidFill>
                  <a:srgbClr val="334155"/>
                </a:solidFill>
              </a:defRPr>
            </a:pPr>
            <a:r>
              <a:t>[Tradução de sentido sem uso literal]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4480560"/>
            <a:ext cx="502920" cy="4114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rot="16200000">
            <a:off x="0" y="0"/>
            <a:ext cx="1371600" cy="1371600"/>
          </a:xfrm>
          <a:prstGeom prst="rtTriangl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4114800" cy="6400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 rot="5400000">
            <a:off x="11277295" y="5943600"/>
            <a:ext cx="914400" cy="914400"/>
          </a:xfrm>
          <a:prstGeom prst="rtTriangl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sosceles Triangle 4"/>
          <p:cNvSpPr/>
          <p:nvPr/>
        </p:nvSpPr>
        <p:spPr>
          <a:xfrm rot="10800000">
            <a:off x="10058400" y="0"/>
            <a:ext cx="2133295" cy="731520"/>
          </a:xfrm>
          <a:prstGeom prst="triangle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HAAS LANGUAGE  •  PICASSO CUBISM EDITION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334155"/>
                </a:solidFill>
              </a:defRPr>
            </a:pPr>
            <a:r>
              <a:t>SLIDE 12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8288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463040"/>
            <a:ext cx="11247120" cy="246888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371600"/>
            <a:ext cx="11247120" cy="2468880"/>
          </a:xfrm>
          <a:prstGeom prst="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800">
                <a:solidFill>
                  <a:srgbClr val="334155"/>
                </a:solidFill>
              </a:defRPr>
            </a:pPr>
            <a:r>
              <a:t>[Pergunta principal 1 sobre o tema]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206240"/>
            <a:ext cx="11247120" cy="210312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4114800"/>
            <a:ext cx="11247120" cy="2103120"/>
          </a:xfrm>
          <a:prstGeom prst="rect">
            <a:avLst/>
          </a:prstGeom>
          <a:solidFill>
            <a:srgbClr val="4F35E2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500">
                <a:solidFill>
                  <a:srgbClr val="FFFFFF"/>
                </a:solidFill>
              </a:defRPr>
            </a:pPr>
            <a:r>
              <a:t>• Para expandir: 'Dê um exemplo recente...'</a:t>
            </a:r>
            <a:br/>
            <a:r>
              <a:t>• Para concordar/discordar: 'Qual é o outro lado dessa moeda?'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rot="16200000">
            <a:off x="0" y="0"/>
            <a:ext cx="1371600" cy="1371600"/>
          </a:xfrm>
          <a:prstGeom prst="rtTriangl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4114800" cy="6400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 rot="5400000">
            <a:off x="11277295" y="5943600"/>
            <a:ext cx="914400" cy="914400"/>
          </a:xfrm>
          <a:prstGeom prst="rtTriangl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sosceles Triangle 4"/>
          <p:cNvSpPr/>
          <p:nvPr/>
        </p:nvSpPr>
        <p:spPr>
          <a:xfrm rot="10800000">
            <a:off x="10058400" y="0"/>
            <a:ext cx="2133295" cy="731520"/>
          </a:xfrm>
          <a:prstGeom prst="triangle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HAAS LANGUAGE  •  PICASSO CUBISM EDITION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334155"/>
                </a:solidFill>
              </a:defRPr>
            </a:pPr>
            <a:r>
              <a:t>SLIDE 13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8288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463040"/>
            <a:ext cx="6400800" cy="246888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371600"/>
            <a:ext cx="6400800" cy="2468880"/>
          </a:xfrm>
          <a:prstGeom prst="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700">
                <a:solidFill>
                  <a:srgbClr val="334155"/>
                </a:solidFill>
              </a:defRPr>
            </a:pPr>
            <a:r>
              <a:t>[Pergunta principal 2 sobre o tema]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206240"/>
            <a:ext cx="6400800" cy="210312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4114800"/>
            <a:ext cx="6400800" cy="2103120"/>
          </a:xfrm>
          <a:prstGeom prst="rect">
            <a:avLst/>
          </a:prstGeom>
          <a:solidFill>
            <a:srgbClr val="4F35E2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• Para expandir: 'Dê um exemplo recente...'</a:t>
            </a:r>
            <a:br/>
            <a:r>
              <a:t>• Para concordar/discordar: 'Qual é o outro lado dessa moeda?'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0" y="1371600"/>
            <a:ext cx="4572000" cy="4846320"/>
          </a:xfrm>
          <a:prstGeom prst="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200">
                <a:solidFill>
                  <a:srgbClr val="334155"/>
                </a:solidFill>
              </a:defRPr>
            </a:pPr>
            <a:r>
              <a:t>[Pergunta principal 1 sobre o tema]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rot="16200000">
            <a:off x="0" y="0"/>
            <a:ext cx="1371600" cy="1371600"/>
          </a:xfrm>
          <a:prstGeom prst="rtTriangl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4114800" cy="6400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 rot="5400000">
            <a:off x="11277295" y="5943600"/>
            <a:ext cx="914400" cy="914400"/>
          </a:xfrm>
          <a:prstGeom prst="rtTriangl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sosceles Triangle 4"/>
          <p:cNvSpPr/>
          <p:nvPr/>
        </p:nvSpPr>
        <p:spPr>
          <a:xfrm rot="10800000">
            <a:off x="10058400" y="0"/>
            <a:ext cx="2133295" cy="731520"/>
          </a:xfrm>
          <a:prstGeom prst="triangle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HAAS LANGUAGE  •  PICASSO CUBISM EDITION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334155"/>
                </a:solidFill>
              </a:defRPr>
            </a:pPr>
            <a:r>
              <a:t>SLIDE 14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8288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463040"/>
            <a:ext cx="6400800" cy="246888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371600"/>
            <a:ext cx="6400800" cy="2468880"/>
          </a:xfrm>
          <a:prstGeom prst="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700">
                <a:solidFill>
                  <a:srgbClr val="334155"/>
                </a:solidFill>
              </a:defRPr>
            </a:pPr>
            <a:r>
              <a:t>[Pergunta principal 3 sobre o tema]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206240"/>
            <a:ext cx="6400800" cy="210312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4114800"/>
            <a:ext cx="6400800" cy="2103120"/>
          </a:xfrm>
          <a:prstGeom prst="rect">
            <a:avLst/>
          </a:prstGeom>
          <a:solidFill>
            <a:srgbClr val="4F35E2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• Para expandir: 'Dê um exemplo recente...'</a:t>
            </a:r>
            <a:br/>
            <a:r>
              <a:t>• Para concordar/discordar: 'Qual é o outro lado dessa moeda?'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0" y="1371600"/>
            <a:ext cx="4572000" cy="2368296"/>
          </a:xfrm>
          <a:prstGeom prst="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200">
                <a:solidFill>
                  <a:srgbClr val="334155"/>
                </a:solidFill>
              </a:defRPr>
            </a:pPr>
            <a:r>
              <a:t>[Pergunta principal 1 sobre o tema]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0" y="3849624"/>
            <a:ext cx="4572000" cy="2368296"/>
          </a:xfrm>
          <a:prstGeom prst="rect">
            <a:avLst/>
          </a:prstGeom>
          <a:solidFill>
            <a:srgbClr val="E0F2FE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200">
                <a:solidFill>
                  <a:srgbClr val="334155"/>
                </a:solidFill>
              </a:defRPr>
            </a:pPr>
            <a:r>
              <a:t>[Pergunta principal 2 sobre o tema]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rot="16200000">
            <a:off x="0" y="0"/>
            <a:ext cx="1371600" cy="1371600"/>
          </a:xfrm>
          <a:prstGeom prst="rtTriangl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4114800" cy="6400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 rot="5400000">
            <a:off x="11277295" y="5943600"/>
            <a:ext cx="914400" cy="914400"/>
          </a:xfrm>
          <a:prstGeom prst="rtTriangl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sosceles Triangle 4"/>
          <p:cNvSpPr/>
          <p:nvPr/>
        </p:nvSpPr>
        <p:spPr>
          <a:xfrm rot="10800000">
            <a:off x="10058400" y="0"/>
            <a:ext cx="2133295" cy="731520"/>
          </a:xfrm>
          <a:prstGeom prst="triangle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HAAS LANGUAGE  •  PICASSO CUBISM EDITION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334155"/>
                </a:solidFill>
              </a:defRPr>
            </a:pPr>
            <a:r>
              <a:t>SLIDE 15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8288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463040"/>
            <a:ext cx="6400800" cy="246888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371600"/>
            <a:ext cx="6400800" cy="2468880"/>
          </a:xfrm>
          <a:prstGeom prst="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700">
                <a:solidFill>
                  <a:srgbClr val="334155"/>
                </a:solidFill>
              </a:defRPr>
            </a:pPr>
            <a:r>
              <a:t>[Pergunta principal 4 sobre o tema]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206240"/>
            <a:ext cx="6400800" cy="210312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4114800"/>
            <a:ext cx="6400800" cy="2103120"/>
          </a:xfrm>
          <a:prstGeom prst="rect">
            <a:avLst/>
          </a:prstGeom>
          <a:solidFill>
            <a:srgbClr val="4F35E2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• Para expandir: 'Dê um exemplo recente...'</a:t>
            </a:r>
            <a:br/>
            <a:r>
              <a:t>• Para concordar/discordar: 'Qual é o outro lado dessa moeda?'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0" y="1371600"/>
            <a:ext cx="4572000" cy="1542287"/>
          </a:xfrm>
          <a:prstGeom prst="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200">
                <a:solidFill>
                  <a:srgbClr val="334155"/>
                </a:solidFill>
              </a:defRPr>
            </a:pPr>
            <a:r>
              <a:t>[Pergunta principal 1 sobre o tema]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0" y="3023616"/>
            <a:ext cx="4572000" cy="1542287"/>
          </a:xfrm>
          <a:prstGeom prst="rect">
            <a:avLst/>
          </a:prstGeom>
          <a:solidFill>
            <a:srgbClr val="E0F2FE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200">
                <a:solidFill>
                  <a:srgbClr val="334155"/>
                </a:solidFill>
              </a:defRPr>
            </a:pPr>
            <a:r>
              <a:t>[Pergunta principal 2 sobre o tema]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32320" y="4675632"/>
            <a:ext cx="4572000" cy="1542287"/>
          </a:xfrm>
          <a:prstGeom prst="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200">
                <a:solidFill>
                  <a:srgbClr val="334155"/>
                </a:solidFill>
              </a:defRPr>
            </a:pPr>
            <a:r>
              <a:t>[Pergunta principal 3 sobre o tema]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rot="16200000">
            <a:off x="0" y="0"/>
            <a:ext cx="1371600" cy="1371600"/>
          </a:xfrm>
          <a:prstGeom prst="rtTriangl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4114800" cy="6400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 rot="5400000">
            <a:off x="11277295" y="5943600"/>
            <a:ext cx="914400" cy="914400"/>
          </a:xfrm>
          <a:prstGeom prst="rtTriangl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sosceles Triangle 4"/>
          <p:cNvSpPr/>
          <p:nvPr/>
        </p:nvSpPr>
        <p:spPr>
          <a:xfrm rot="10800000">
            <a:off x="10058400" y="0"/>
            <a:ext cx="2133295" cy="731520"/>
          </a:xfrm>
          <a:prstGeom prst="triangle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HAAS LANGUAGE  •  PICASSO CUBISM EDITION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334155"/>
                </a:solidFill>
              </a:defRPr>
            </a:pPr>
            <a:r>
              <a:t>SLIDE 16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8288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463040"/>
            <a:ext cx="6400800" cy="246888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371600"/>
            <a:ext cx="6400800" cy="2468880"/>
          </a:xfrm>
          <a:prstGeom prst="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700">
                <a:solidFill>
                  <a:srgbClr val="334155"/>
                </a:solidFill>
              </a:defRPr>
            </a:pPr>
            <a:r>
              <a:t>[Pergunta principal 5 sobre o tema]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206240"/>
            <a:ext cx="6400800" cy="210312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4114800"/>
            <a:ext cx="6400800" cy="2103120"/>
          </a:xfrm>
          <a:prstGeom prst="rect">
            <a:avLst/>
          </a:prstGeom>
          <a:solidFill>
            <a:srgbClr val="4F35E2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• Para expandir: 'Dê um exemplo recente...'</a:t>
            </a:r>
            <a:br/>
            <a:r>
              <a:t>• Para concordar/discordar: 'Qual é o outro lado dessa moeda?'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0" y="1371600"/>
            <a:ext cx="4572000" cy="1129284"/>
          </a:xfrm>
          <a:prstGeom prst="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100">
                <a:solidFill>
                  <a:srgbClr val="334155"/>
                </a:solidFill>
              </a:defRPr>
            </a:pPr>
            <a:r>
              <a:t>[Pergunta principal 1 sobre o tema]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0" y="2610612"/>
            <a:ext cx="4572000" cy="1129284"/>
          </a:xfrm>
          <a:prstGeom prst="rect">
            <a:avLst/>
          </a:prstGeom>
          <a:solidFill>
            <a:srgbClr val="E0F2FE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100">
                <a:solidFill>
                  <a:srgbClr val="334155"/>
                </a:solidFill>
              </a:defRPr>
            </a:pPr>
            <a:r>
              <a:t>[Pergunta principal 2 sobre o tema]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32320" y="3849624"/>
            <a:ext cx="4572000" cy="1129284"/>
          </a:xfrm>
          <a:prstGeom prst="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100">
                <a:solidFill>
                  <a:srgbClr val="334155"/>
                </a:solidFill>
              </a:defRPr>
            </a:pPr>
            <a:r>
              <a:t>[Pergunta principal 3 sobre o tema]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32320" y="5088636"/>
            <a:ext cx="4572000" cy="1129284"/>
          </a:xfrm>
          <a:prstGeom prst="rect">
            <a:avLst/>
          </a:prstGeom>
          <a:solidFill>
            <a:srgbClr val="E0F2FE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100">
                <a:solidFill>
                  <a:srgbClr val="334155"/>
                </a:solidFill>
              </a:defRPr>
            </a:pPr>
            <a:r>
              <a:t>[Pergunta principal 4 sobre o tema]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rot="16200000">
            <a:off x="0" y="0"/>
            <a:ext cx="1371600" cy="1371600"/>
          </a:xfrm>
          <a:prstGeom prst="rtTriangl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4114800" cy="6400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 rot="5400000">
            <a:off x="11277295" y="5943600"/>
            <a:ext cx="914400" cy="914400"/>
          </a:xfrm>
          <a:prstGeom prst="rtTriangl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sosceles Triangle 4"/>
          <p:cNvSpPr/>
          <p:nvPr/>
        </p:nvSpPr>
        <p:spPr>
          <a:xfrm rot="10800000">
            <a:off x="10058400" y="0"/>
            <a:ext cx="2133295" cy="731520"/>
          </a:xfrm>
          <a:prstGeom prst="triangle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HAAS LANGUAGE  •  PICASSO CUBISM EDITION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334155"/>
                </a:solidFill>
              </a:defRPr>
            </a:pPr>
            <a:r>
              <a:t>SLIDE 17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8288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463040"/>
            <a:ext cx="6400800" cy="246888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371600"/>
            <a:ext cx="6400800" cy="2468880"/>
          </a:xfrm>
          <a:prstGeom prst="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700">
                <a:solidFill>
                  <a:srgbClr val="334155"/>
                </a:solidFill>
              </a:defRPr>
            </a:pPr>
            <a:r>
              <a:t>[Pergunta principal 6 sobre o tema]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206240"/>
            <a:ext cx="6400800" cy="210312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4114800"/>
            <a:ext cx="6400800" cy="2103120"/>
          </a:xfrm>
          <a:prstGeom prst="rect">
            <a:avLst/>
          </a:prstGeom>
          <a:solidFill>
            <a:srgbClr val="4F35E2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• Para expandir: 'Dê um exemplo recente...'</a:t>
            </a:r>
            <a:br/>
            <a:r>
              <a:t>• Para concordar/discordar: 'Qual é o outro lado dessa moeda?'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0" y="1371600"/>
            <a:ext cx="4572000" cy="881481"/>
          </a:xfrm>
          <a:prstGeom prst="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 rIns="109728" bIns="109728"/>
          <a:lstStyle/>
          <a:p>
            <a:pPr algn="ctr">
              <a:defRPr sz="1100">
                <a:solidFill>
                  <a:srgbClr val="334155"/>
                </a:solidFill>
              </a:defRPr>
            </a:pPr>
            <a:r>
              <a:t>[Pergunta principal 1 sobre o tema]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0" y="2362809"/>
            <a:ext cx="4572000" cy="881481"/>
          </a:xfrm>
          <a:prstGeom prst="rect">
            <a:avLst/>
          </a:prstGeom>
          <a:solidFill>
            <a:srgbClr val="E0F2FE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 rIns="109728" bIns="109728"/>
          <a:lstStyle/>
          <a:p>
            <a:pPr algn="ctr">
              <a:defRPr sz="1100">
                <a:solidFill>
                  <a:srgbClr val="334155"/>
                </a:solidFill>
              </a:defRPr>
            </a:pPr>
            <a:r>
              <a:t>[Pergunta principal 2 sobre o tema]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32320" y="3354019"/>
            <a:ext cx="4572000" cy="881481"/>
          </a:xfrm>
          <a:prstGeom prst="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 rIns="109728" bIns="109728"/>
          <a:lstStyle/>
          <a:p>
            <a:pPr algn="ctr">
              <a:defRPr sz="1100">
                <a:solidFill>
                  <a:srgbClr val="334155"/>
                </a:solidFill>
              </a:defRPr>
            </a:pPr>
            <a:r>
              <a:t>[Pergunta principal 3 sobre o tema]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32320" y="4345228"/>
            <a:ext cx="4572000" cy="881481"/>
          </a:xfrm>
          <a:prstGeom prst="rect">
            <a:avLst/>
          </a:prstGeom>
          <a:solidFill>
            <a:srgbClr val="E0F2FE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 rIns="109728" bIns="109728"/>
          <a:lstStyle/>
          <a:p>
            <a:pPr algn="ctr">
              <a:defRPr sz="1100">
                <a:solidFill>
                  <a:srgbClr val="334155"/>
                </a:solidFill>
              </a:defRPr>
            </a:pPr>
            <a:r>
              <a:t>[Pergunta principal 4 sobre o tema]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32320" y="5336438"/>
            <a:ext cx="4572000" cy="881481"/>
          </a:xfrm>
          <a:prstGeom prst="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 rIns="109728" bIns="109728"/>
          <a:lstStyle/>
          <a:p>
            <a:pPr algn="ctr">
              <a:defRPr sz="1100">
                <a:solidFill>
                  <a:srgbClr val="334155"/>
                </a:solidFill>
              </a:defRPr>
            </a:pPr>
            <a:r>
              <a:t>[Pergunta principal 5 sobre o tema]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rot="16200000">
            <a:off x="0" y="0"/>
            <a:ext cx="1371600" cy="1371600"/>
          </a:xfrm>
          <a:prstGeom prst="rtTriangl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4114800" cy="6400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 rot="5400000">
            <a:off x="11277295" y="5943600"/>
            <a:ext cx="914400" cy="914400"/>
          </a:xfrm>
          <a:prstGeom prst="rtTriangl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sosceles Triangle 4"/>
          <p:cNvSpPr/>
          <p:nvPr/>
        </p:nvSpPr>
        <p:spPr>
          <a:xfrm rot="10800000">
            <a:off x="10058400" y="0"/>
            <a:ext cx="2133295" cy="731520"/>
          </a:xfrm>
          <a:prstGeom prst="triangle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HAAS LANGUAGE  •  PICASSO CUBISM EDITION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334155"/>
                </a:solidFill>
              </a:defRPr>
            </a:pPr>
            <a:r>
              <a:t>SLIDE 18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8288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463040"/>
            <a:ext cx="6400800" cy="246888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371600"/>
            <a:ext cx="6400800" cy="2468880"/>
          </a:xfrm>
          <a:prstGeom prst="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700">
                <a:solidFill>
                  <a:srgbClr val="334155"/>
                </a:solidFill>
              </a:defRPr>
            </a:pPr>
            <a:r>
              <a:t>[Pergunta principal 7 sobre o tema]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206240"/>
            <a:ext cx="6400800" cy="210312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4114800"/>
            <a:ext cx="6400800" cy="2103120"/>
          </a:xfrm>
          <a:prstGeom prst="rect">
            <a:avLst/>
          </a:prstGeom>
          <a:solidFill>
            <a:srgbClr val="4F35E2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• Para expandir: 'Dê um exemplo recente...'</a:t>
            </a:r>
            <a:br/>
            <a:r>
              <a:t>• Para concordar/discordar: 'Qual é o outro lado dessa moeda?'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0" y="1371600"/>
            <a:ext cx="4572000" cy="716280"/>
          </a:xfrm>
          <a:prstGeom prst="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 rIns="109728" bIns="109728"/>
          <a:lstStyle/>
          <a:p>
            <a:pPr algn="ctr">
              <a:defRPr sz="1000">
                <a:solidFill>
                  <a:srgbClr val="334155"/>
                </a:solidFill>
              </a:defRPr>
            </a:pPr>
            <a:r>
              <a:t>[Pergunta principal 1 sobre o tema]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0" y="2197608"/>
            <a:ext cx="4572000" cy="716280"/>
          </a:xfrm>
          <a:prstGeom prst="rect">
            <a:avLst/>
          </a:prstGeom>
          <a:solidFill>
            <a:srgbClr val="E0F2FE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 rIns="109728" bIns="109728"/>
          <a:lstStyle/>
          <a:p>
            <a:pPr algn="ctr">
              <a:defRPr sz="1000">
                <a:solidFill>
                  <a:srgbClr val="334155"/>
                </a:solidFill>
              </a:defRPr>
            </a:pPr>
            <a:r>
              <a:t>[Pergunta principal 2 sobre o tema]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32320" y="3023616"/>
            <a:ext cx="4572000" cy="716280"/>
          </a:xfrm>
          <a:prstGeom prst="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 rIns="109728" bIns="109728"/>
          <a:lstStyle/>
          <a:p>
            <a:pPr algn="ctr">
              <a:defRPr sz="1000">
                <a:solidFill>
                  <a:srgbClr val="334155"/>
                </a:solidFill>
              </a:defRPr>
            </a:pPr>
            <a:r>
              <a:t>[Pergunta principal 3 sobre o tema]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32320" y="3849624"/>
            <a:ext cx="4572000" cy="716280"/>
          </a:xfrm>
          <a:prstGeom prst="rect">
            <a:avLst/>
          </a:prstGeom>
          <a:solidFill>
            <a:srgbClr val="E0F2FE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 rIns="109728" bIns="109728"/>
          <a:lstStyle/>
          <a:p>
            <a:pPr algn="ctr">
              <a:defRPr sz="1000">
                <a:solidFill>
                  <a:srgbClr val="334155"/>
                </a:solidFill>
              </a:defRPr>
            </a:pPr>
            <a:r>
              <a:t>[Pergunta principal 4 sobre o tema]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32320" y="4675632"/>
            <a:ext cx="4572000" cy="716280"/>
          </a:xfrm>
          <a:prstGeom prst="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 rIns="109728" bIns="109728"/>
          <a:lstStyle/>
          <a:p>
            <a:pPr algn="ctr">
              <a:defRPr sz="1000">
                <a:solidFill>
                  <a:srgbClr val="334155"/>
                </a:solidFill>
              </a:defRPr>
            </a:pPr>
            <a:r>
              <a:t>[Pergunta principal 5 sobre o tema]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32320" y="5501640"/>
            <a:ext cx="4572000" cy="716280"/>
          </a:xfrm>
          <a:prstGeom prst="rect">
            <a:avLst/>
          </a:prstGeom>
          <a:solidFill>
            <a:srgbClr val="E0F2FE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 rIns="109728" bIns="109728"/>
          <a:lstStyle/>
          <a:p>
            <a:pPr algn="ctr">
              <a:defRPr sz="1000">
                <a:solidFill>
                  <a:srgbClr val="334155"/>
                </a:solidFill>
              </a:defRPr>
            </a:pPr>
            <a:r>
              <a:t>[Pergunta principal 6 sobre o tema]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rot="16200000">
            <a:off x="0" y="0"/>
            <a:ext cx="1371600" cy="1371600"/>
          </a:xfrm>
          <a:prstGeom prst="rtTriangl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4114800" cy="6400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 rot="5400000">
            <a:off x="11277295" y="5943600"/>
            <a:ext cx="914400" cy="914400"/>
          </a:xfrm>
          <a:prstGeom prst="rtTriangl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sosceles Triangle 4"/>
          <p:cNvSpPr/>
          <p:nvPr/>
        </p:nvSpPr>
        <p:spPr>
          <a:xfrm rot="10800000">
            <a:off x="10058400" y="0"/>
            <a:ext cx="2133295" cy="731520"/>
          </a:xfrm>
          <a:prstGeom prst="triangle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HAAS LANGUAGE  •  PICASSO CUBISM EDITION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334155"/>
                </a:solidFill>
              </a:defRPr>
            </a:pPr>
            <a:r>
              <a:t>SLIDE 19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8288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463040"/>
            <a:ext cx="6400800" cy="246888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371600"/>
            <a:ext cx="6400800" cy="2468880"/>
          </a:xfrm>
          <a:prstGeom prst="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700">
                <a:solidFill>
                  <a:srgbClr val="334155"/>
                </a:solidFill>
              </a:defRPr>
            </a:pPr>
            <a:r>
              <a:t>[Pergunta principal 8 sobre o tema]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206240"/>
            <a:ext cx="6400800" cy="210312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4114800"/>
            <a:ext cx="6400800" cy="2103120"/>
          </a:xfrm>
          <a:prstGeom prst="rect">
            <a:avLst/>
          </a:prstGeom>
          <a:solidFill>
            <a:srgbClr val="4F35E2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• Para expandir: 'Dê um exemplo recente...'</a:t>
            </a:r>
            <a:br/>
            <a:r>
              <a:t>• Para concordar/discordar: 'Qual é o outro lado dessa moeda?'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0" y="1371600"/>
            <a:ext cx="4572000" cy="598278"/>
          </a:xfrm>
          <a:prstGeom prst="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 rIns="109728" bIns="109728"/>
          <a:lstStyle/>
          <a:p>
            <a:pPr algn="ctr">
              <a:defRPr sz="1000">
                <a:solidFill>
                  <a:srgbClr val="334155"/>
                </a:solidFill>
              </a:defRPr>
            </a:pPr>
            <a:r>
              <a:t>[Pergunta principal 1 sobre o tema]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0" y="2079606"/>
            <a:ext cx="4572000" cy="598278"/>
          </a:xfrm>
          <a:prstGeom prst="rect">
            <a:avLst/>
          </a:prstGeom>
          <a:solidFill>
            <a:srgbClr val="E0F2FE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 rIns="109728" bIns="109728"/>
          <a:lstStyle/>
          <a:p>
            <a:pPr algn="ctr">
              <a:defRPr sz="1000">
                <a:solidFill>
                  <a:srgbClr val="334155"/>
                </a:solidFill>
              </a:defRPr>
            </a:pPr>
            <a:r>
              <a:t>[Pergunta principal 2 sobre o tema]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32320" y="2787613"/>
            <a:ext cx="4572000" cy="598278"/>
          </a:xfrm>
          <a:prstGeom prst="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 rIns="109728" bIns="109728"/>
          <a:lstStyle/>
          <a:p>
            <a:pPr algn="ctr">
              <a:defRPr sz="1000">
                <a:solidFill>
                  <a:srgbClr val="334155"/>
                </a:solidFill>
              </a:defRPr>
            </a:pPr>
            <a:r>
              <a:t>[Pergunta principal 3 sobre o tema]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32320" y="3495620"/>
            <a:ext cx="4572000" cy="598278"/>
          </a:xfrm>
          <a:prstGeom prst="rect">
            <a:avLst/>
          </a:prstGeom>
          <a:solidFill>
            <a:srgbClr val="E0F2FE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 rIns="109728" bIns="109728"/>
          <a:lstStyle/>
          <a:p>
            <a:pPr algn="ctr">
              <a:defRPr sz="1000">
                <a:solidFill>
                  <a:srgbClr val="334155"/>
                </a:solidFill>
              </a:defRPr>
            </a:pPr>
            <a:r>
              <a:t>[Pergunta principal 4 sobre o tema]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32320" y="4203627"/>
            <a:ext cx="4572000" cy="598278"/>
          </a:xfrm>
          <a:prstGeom prst="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 rIns="109728" bIns="109728"/>
          <a:lstStyle/>
          <a:p>
            <a:pPr algn="ctr">
              <a:defRPr sz="1000">
                <a:solidFill>
                  <a:srgbClr val="334155"/>
                </a:solidFill>
              </a:defRPr>
            </a:pPr>
            <a:r>
              <a:t>[Pergunta principal 5 sobre o tema]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32320" y="4911634"/>
            <a:ext cx="4572000" cy="598278"/>
          </a:xfrm>
          <a:prstGeom prst="rect">
            <a:avLst/>
          </a:prstGeom>
          <a:solidFill>
            <a:srgbClr val="E0F2FE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 rIns="109728" bIns="109728"/>
          <a:lstStyle/>
          <a:p>
            <a:pPr algn="ctr">
              <a:defRPr sz="1000">
                <a:solidFill>
                  <a:srgbClr val="334155"/>
                </a:solidFill>
              </a:defRPr>
            </a:pPr>
            <a:r>
              <a:t>[Pergunta principal 6 sobre o tema]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32320" y="5619641"/>
            <a:ext cx="4572000" cy="598278"/>
          </a:xfrm>
          <a:prstGeom prst="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 rIns="109728" bIns="109728"/>
          <a:lstStyle/>
          <a:p>
            <a:pPr algn="ctr">
              <a:defRPr sz="1000">
                <a:solidFill>
                  <a:srgbClr val="334155"/>
                </a:solidFill>
              </a:defRPr>
            </a:pPr>
            <a:r>
              <a:t>[Pergunta principal 7 sobre o tema]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rot="16200000">
            <a:off x="0" y="0"/>
            <a:ext cx="1371600" cy="1371600"/>
          </a:xfrm>
          <a:prstGeom prst="rtTriangl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4114800" cy="6400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 rot="5400000">
            <a:off x="11277295" y="5943600"/>
            <a:ext cx="914400" cy="914400"/>
          </a:xfrm>
          <a:prstGeom prst="rtTriangl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sosceles Triangle 4"/>
          <p:cNvSpPr/>
          <p:nvPr/>
        </p:nvSpPr>
        <p:spPr>
          <a:xfrm rot="10800000">
            <a:off x="10058400" y="0"/>
            <a:ext cx="2133295" cy="731520"/>
          </a:xfrm>
          <a:prstGeom prst="triangle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HAAS LANGUAGE  •  PICASSO CUBISM EDITION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334155"/>
                </a:solidFill>
              </a:defRPr>
            </a:pPr>
            <a:r>
              <a:t>SLIDE 20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8288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F35E2"/>
                </a:solidFill>
              </a:defRPr>
            </a:pPr>
            <a:r>
              <a:t>Atividade de Escrita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777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3A8A"/>
                </a:solidFill>
              </a:defRPr>
            </a:pPr>
            <a:r>
              <a:t>Consolidação e Memorização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463040"/>
            <a:ext cx="11247120" cy="2560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371600"/>
            <a:ext cx="11247120" cy="2560320"/>
          </a:xfrm>
          <a:prstGeom prst="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Tarefa de Escrita Recomendada: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[Instrução detalhada da tarefa: escrever um texto, frases ou diálogo]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206240"/>
            <a:ext cx="11247120" cy="2011680"/>
          </a:xfrm>
          <a:prstGeom prst="rect">
            <a:avLst/>
          </a:prstGeom>
          <a:solidFill>
            <a:srgbClr val="14C8B0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400">
                <a:solidFill>
                  <a:srgbClr val="334155"/>
                </a:solidFill>
              </a:defRPr>
            </a:pPr>
            <a:r>
              <a:t>Identificamos que a escrita nesta etapa é fundamental para você fixar as estruturas aprendidas, expandir vocabulário ativo e diminuir a tradução mental automática do seu idioma nativo.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rot="16200000">
            <a:off x="0" y="0"/>
            <a:ext cx="1371600" cy="1371600"/>
          </a:xfrm>
          <a:prstGeom prst="rtTriangl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4114800" cy="6400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 rot="5400000">
            <a:off x="11277295" y="5943600"/>
            <a:ext cx="914400" cy="914400"/>
          </a:xfrm>
          <a:prstGeom prst="rtTriangl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sosceles Triangle 4"/>
          <p:cNvSpPr/>
          <p:nvPr/>
        </p:nvSpPr>
        <p:spPr>
          <a:xfrm rot="10800000">
            <a:off x="10058400" y="0"/>
            <a:ext cx="2133295" cy="731520"/>
          </a:xfrm>
          <a:prstGeom prst="triangle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HAAS LANGUAGE  •  PICASSO CUBISM EDITION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334155"/>
                </a:solidFill>
              </a:defRPr>
            </a:pPr>
            <a:r>
              <a:t>SLIDE 21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8288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F35E2"/>
                </a:solidFill>
              </a:defRPr>
            </a:pPr>
            <a:r>
              <a:t>Encerramento — Tarefa de Casa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777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3A8A"/>
                </a:solidFill>
              </a:defRPr>
            </a:pPr>
            <a:r>
              <a:t>Ação e Prática Contínua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463040"/>
            <a:ext cx="11247120" cy="475488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371600"/>
            <a:ext cx="11247120" cy="4754880"/>
          </a:xfrm>
          <a:prstGeom prst="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Tarefa de Casa: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• [Atividade prática 1 para realizar fora da aula]</a:t>
            </a:r>
            <a:br/>
            <a:r>
              <a:t>• [Atividade de fixação de vocabulário ou escuta]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rot="16200000">
            <a:off x="0" y="0"/>
            <a:ext cx="1371600" cy="1371600"/>
          </a:xfrm>
          <a:prstGeom prst="rtTriangl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4114800" cy="6400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 rot="5400000">
            <a:off x="11277295" y="5943600"/>
            <a:ext cx="914400" cy="914400"/>
          </a:xfrm>
          <a:prstGeom prst="rtTriangl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sosceles Triangle 4"/>
          <p:cNvSpPr/>
          <p:nvPr/>
        </p:nvSpPr>
        <p:spPr>
          <a:xfrm rot="10800000">
            <a:off x="10058400" y="0"/>
            <a:ext cx="2133295" cy="731520"/>
          </a:xfrm>
          <a:prstGeom prst="triangle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HAAS LANGUAGE  •  PICASSO CUBISM EDITION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334155"/>
                </a:solidFill>
              </a:defRPr>
            </a:pPr>
            <a:r>
              <a:t>SLIDE 22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8288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F35E2"/>
                </a:solidFill>
              </a:defRPr>
            </a:pPr>
            <a:r>
              <a:t>Encerramento &amp; Feedback Rápido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777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3A8A"/>
                </a:solidFill>
              </a:defRPr>
            </a:pPr>
            <a:r>
              <a:t>Considerações Finais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463040"/>
            <a:ext cx="11247120" cy="18288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371600"/>
            <a:ext cx="11247120" cy="1828800"/>
          </a:xfrm>
          <a:prstGeom prst="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2000" b="1">
                <a:solidFill>
                  <a:srgbClr val="4F35E2"/>
                </a:solidFill>
              </a:defRPr>
            </a:pPr>
            <a:r>
              <a:t>Agradecimento:</a:t>
            </a:r>
          </a:p>
          <a:p>
            <a:pPr>
              <a:spcBef>
                <a:spcPts val="600"/>
              </a:spcBef>
              <a:defRPr sz="1600">
                <a:solidFill>
                  <a:srgbClr val="334155"/>
                </a:solidFill>
              </a:defRPr>
            </a:pPr>
            <a:r>
              <a:t>Obrigado pela dedicação na aula de hoje!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566160"/>
            <a:ext cx="11247120" cy="265176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474720"/>
            <a:ext cx="11247120" cy="2651760"/>
          </a:xfrm>
          <a:prstGeom prst="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Espaço para Feedback Rápido:</a:t>
            </a:r>
          </a:p>
          <a:p>
            <a:pPr>
              <a:spcBef>
                <a:spcPts val="600"/>
              </a:spcBef>
              <a:defRPr sz="1500">
                <a:solidFill>
                  <a:srgbClr val="334155"/>
                </a:solidFill>
              </a:defRPr>
            </a:pPr>
            <a:r>
              <a:t>[Espaço destinado para o professor coletar dúvidas rápidas e considerações do aluno]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