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315200" cy="29260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LESSON TITLE</a:t>
            </a:r>
          </a:p>
          <a:p>
            <a:pPr>
              <a:spcBef>
                <a:spcPts val="400"/>
              </a:spcBef>
              <a:defRPr sz="3600" b="1">
                <a:solidFill>
                  <a:srgbClr val="FFFFFF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400"/>
              </a:spcBef>
              <a:defRPr sz="1800">
                <a:solidFill>
                  <a:srgbClr val="E0F2F1"/>
                </a:solidFill>
              </a:defRPr>
            </a:pPr>
            <a:r>
              <a:t>📅 Data da Aula: [DD/MM/AAAA]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82127" y="1097280"/>
            <a:ext cx="3849624" cy="13716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HAAS BENTO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</a:defRPr>
            </a:pPr>
            <a:r>
              <a:t>POP GRID v2.1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33087"/>
            <a:ext cx="7315200" cy="21031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2578608"/>
            <a:ext cx="3849624" cy="365760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Hero Bento]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Painel da Turma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DOCENTE</a:t>
            </a:r>
          </a:p>
          <a:p>
            <a:pPr>
              <a:spcBef>
                <a:spcPts val="400"/>
              </a:spcBef>
              <a:defRPr sz="2000" b="1">
                <a:solidFill>
                  <a:srgbClr val="14C8B0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371600"/>
            <a:ext cx="5678424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ALUNOS</a:t>
            </a:r>
          </a:p>
          <a:p>
            <a:pPr>
              <a:spcBef>
                <a:spcPts val="400"/>
              </a:spcBef>
              <a:defRPr sz="2000" b="1">
                <a:solidFill>
                  <a:srgbClr val="1E3A8A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600">
                <a:solidFill>
                  <a:srgbClr val="1E3A8A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67328"/>
            <a:ext cx="5486400" cy="245059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STATUS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Sessão Ativa</a:t>
            </a:r>
          </a:p>
          <a:p>
            <a:pPr>
              <a:spcBef>
                <a:spcPts val="400"/>
              </a:spcBef>
              <a:defRPr sz="1400">
                <a:solidFill>
                  <a:srgbClr val="E0F2F1"/>
                </a:solidFill>
              </a:defRPr>
            </a:pPr>
            <a:r>
              <a:t>Haas High-Level Education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858000" cy="23774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PROMPT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58768"/>
            <a:ext cx="6858000" cy="235915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371600"/>
            <a:ext cx="4306824" cy="48463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Metas da Sessão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1463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Goal #01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[Objetivo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44368"/>
            <a:ext cx="6400800" cy="1463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Goal #02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[Objetivo 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7136"/>
            <a:ext cx="6400800" cy="1700784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Goal #03</a:t>
            </a:r>
          </a:p>
          <a:p>
            <a:pPr>
              <a:spcBef>
                <a:spcPts val="400"/>
              </a:spcBef>
              <a:defRPr sz="1500">
                <a:solidFill>
                  <a:srgbClr val="1E3A8A"/>
                </a:solidFill>
              </a:defRPr>
            </a:pPr>
            <a:r>
              <a:t>[Objetivo 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1371600"/>
            <a:ext cx="4764024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PASSO 01</a:t>
            </a:r>
          </a:p>
          <a:p>
            <a:pPr>
              <a:spcBef>
                <a:spcPts val="400"/>
              </a:spcBef>
              <a:defRPr sz="1600" b="1">
                <a:solidFill>
                  <a:srgbClr val="14C8B0"/>
                </a:solidFill>
              </a:defRPr>
            </a:pPr>
            <a:r>
              <a:t>1. Fala Ativa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371600"/>
            <a:ext cx="3566160" cy="22860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PASSO 02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2. Exposição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5" y="1371600"/>
            <a:ext cx="3922776" cy="2286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PASSO 03</a:t>
            </a:r>
          </a:p>
          <a:p>
            <a:pPr>
              <a:spcBef>
                <a:spcPts val="400"/>
              </a:spcBef>
              <a:defRPr sz="1600" b="1">
                <a:solidFill>
                  <a:srgbClr val="14C8B0"/>
                </a:solidFill>
              </a:defRPr>
            </a:pPr>
            <a:r>
              <a:t>3. Prática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Exercícios com suporte.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67328"/>
            <a:ext cx="5486400" cy="2450592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04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 em contexto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3767328"/>
            <a:ext cx="5678424" cy="245059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PASSO 05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5. Escrita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Consolidação visual e redução da tradução automática.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295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</a:t>
            </a:r>
          </a:p>
          <a:p>
            <a:pPr>
              <a:spcBef>
                <a:spcPts val="400"/>
              </a:spcBef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67328"/>
            <a:ext cx="5486400" cy="2450592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3767328"/>
            <a:ext cx="5678424" cy="245059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295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</a:t>
            </a:r>
          </a:p>
          <a:p>
            <a:pPr>
              <a:spcBef>
                <a:spcPts val="400"/>
              </a:spcBef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67328"/>
            <a:ext cx="5486400" cy="2450592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3767328"/>
            <a:ext cx="5678424" cy="245059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295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FOCUS</a:t>
            </a:r>
          </a:p>
          <a:p>
            <a:pPr>
              <a:spcBef>
                <a:spcPts val="400"/>
              </a:spcBef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67328"/>
            <a:ext cx="5486400" cy="2450592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3767328"/>
            <a:ext cx="5678424" cy="245059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800" b="1">
                <a:solidFill>
                  <a:srgbClr val="14C8B0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1371600"/>
            <a:ext cx="5678424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MEDIA</a:t>
            </a:r>
          </a:p>
          <a:p>
            <a:pPr>
              <a:spcBef>
                <a:spcPts val="400"/>
              </a:spcBef>
              <a:defRPr sz="1800" b="1">
                <a:solidFill>
                  <a:srgbClr val="14C8B0"/>
                </a:solidFill>
              </a:defRPr>
            </a:pPr>
            <a:r>
              <a:t>Sugestão Cultural: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59436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5486400" cy="16459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59436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578608"/>
            <a:ext cx="5678424" cy="16459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688336"/>
            <a:ext cx="59436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34256"/>
            <a:ext cx="5486400" cy="1883664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43984"/>
            <a:ext cx="59436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4334256"/>
            <a:ext cx="5678424" cy="1883664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4443984"/>
            <a:ext cx="59436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59436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5486400" cy="1645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59436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578608"/>
            <a:ext cx="5678424" cy="1645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688336"/>
            <a:ext cx="59436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34256"/>
            <a:ext cx="5486400" cy="1883664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43984"/>
            <a:ext cx="59436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4334256"/>
            <a:ext cx="5678424" cy="1883664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4F35E2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4443984"/>
            <a:ext cx="59436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[1/8]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Q01:</a:t>
            </a:r>
          </a:p>
          <a:p>
            <a:pPr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11277295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[2/8]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Q02: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232714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[3/8]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Q03: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232714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4604" y="1371600"/>
            <a:ext cx="232714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[4/8]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Q04: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2327148" cy="2368296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4604" y="1371600"/>
            <a:ext cx="2327148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3849624"/>
            <a:ext cx="2327148" cy="236829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[5/8]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Q05: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2327148" cy="2368296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4604" y="1371600"/>
            <a:ext cx="2327148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3849624"/>
            <a:ext cx="2327148" cy="236829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4604" y="3849624"/>
            <a:ext cx="2327148" cy="2368296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4F35E2"/>
                </a:solidFill>
              </a:defRPr>
            </a:pPr>
            <a:r>
              <a:t>[Pergunta principal 4 sobre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[6/8]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Q06: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1514855" cy="2368296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2312" y="1371600"/>
            <a:ext cx="1514855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16895" y="1371600"/>
            <a:ext cx="1514855" cy="236829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3849624"/>
            <a:ext cx="1514855" cy="2368296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4F35E2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2312" y="3849624"/>
            <a:ext cx="1514855" cy="2368296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1000">
                <a:solidFill>
                  <a:srgbClr val="1E3A8A"/>
                </a:solidFill>
              </a:defRPr>
            </a:pPr>
            <a:r>
              <a:t>[Pergunta principal 5 sobre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[7/8]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Q07: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1514855" cy="2368296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2312" y="1371600"/>
            <a:ext cx="1514855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16895" y="1371600"/>
            <a:ext cx="1514855" cy="236829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3849624"/>
            <a:ext cx="1514855" cy="2368296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4F35E2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2312" y="3849624"/>
            <a:ext cx="1514855" cy="2368296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1E3A8A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6895" y="3849624"/>
            <a:ext cx="1514855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14C8B0"/>
                </a:solidFill>
              </a:defRPr>
            </a:pPr>
            <a:r>
              <a:t>[Pergunta principal 6 sobre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de Fala [8/8]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30936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PERGUNTA ATIVA Q08: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6309360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71600"/>
            <a:ext cx="1514855" cy="1542287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1E3A8A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2312" y="1371600"/>
            <a:ext cx="1514855" cy="1542287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16895" y="1371600"/>
            <a:ext cx="1514855" cy="1542287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3023616"/>
            <a:ext cx="1514855" cy="1542287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4F35E2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2312" y="3023616"/>
            <a:ext cx="1514855" cy="1542287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1E3A8A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6895" y="3023616"/>
            <a:ext cx="1514855" cy="1542287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14C8B0"/>
                </a:solidFill>
              </a:defRPr>
            </a:pPr>
            <a:r>
              <a:t>[Pergunta principal 6 sobre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4675632"/>
            <a:ext cx="1514855" cy="1542287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Q07</a:t>
            </a:r>
          </a:p>
          <a:p>
            <a:pPr>
              <a:spcBef>
                <a:spcPts val="400"/>
              </a:spcBef>
              <a:defRPr sz="900">
                <a:solidFill>
                  <a:srgbClr val="14C8B0"/>
                </a:solidFill>
              </a:defRPr>
            </a:pPr>
            <a:r>
              <a:t>[Pergunta principal 7 sobre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WRITING TASK</a:t>
            </a:r>
          </a:p>
          <a:p>
            <a:pPr>
              <a:spcBef>
                <a:spcPts val="400"/>
              </a:spcBef>
              <a:defRPr sz="1800" b="1">
                <a:solidFill>
                  <a:srgbClr val="14C8B0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50208"/>
            <a:ext cx="11277295" cy="22677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RATIONALE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HOMEWORK</a:t>
            </a:r>
          </a:p>
          <a:p>
            <a:pPr>
              <a:spcBef>
                <a:spcPts val="400"/>
              </a:spcBef>
              <a:defRPr sz="1800" b="1">
                <a:solidFill>
                  <a:srgbClr val="14C8B0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BENTO POP COLOR GRID EDITION 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4C8B0"/>
                </a:solidFill>
              </a:defRPr>
            </a:pPr>
            <a:r>
              <a:t>THANKS</a:t>
            </a:r>
          </a:p>
          <a:p>
            <a:pPr>
              <a:spcBef>
                <a:spcPts val="400"/>
              </a:spcBef>
              <a:defRPr sz="2000" b="1">
                <a:solidFill>
                  <a:srgbClr val="14C8B0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93008"/>
            <a:ext cx="11277295" cy="272491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FEEDBACK</a:t>
            </a:r>
          </a:p>
          <a:p>
            <a:pPr>
              <a:spcBef>
                <a:spcPts val="400"/>
              </a:spcBef>
              <a:defRPr sz="1800" b="1">
                <a:solidFill>
                  <a:srgbClr val="1E3A8A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