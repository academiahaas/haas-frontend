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4F35E2"/>
                </a:solidFill>
              </a:defRPr>
            </a:pPr>
            <a:r>
              <a:t>[TÍTULO]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[Título Completo / Tema Principal da Aula]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[Subtítulo / Descrição da Aula]</a:t>
            </a:r>
          </a:p>
          <a:p>
            <a:pPr>
              <a:spcBef>
                <a:spcPts val="1200"/>
              </a:spcBef>
              <a:defRPr sz="1500" b="1">
                <a:solidFill>
                  <a:srgbClr val="14C8B0"/>
                </a:solidFill>
              </a:defRPr>
            </a:pPr>
            <a:r>
              <a:t>📅 Data da Aula: [DD/MM/AAAA]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097280"/>
            <a:ext cx="4389120" cy="5029200"/>
          </a:xfrm>
          <a:prstGeom prst="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EM ESCALA]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Registro da Sessão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DOCENTE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TURMA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2179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SPEAK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31920"/>
            <a:ext cx="62179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NEURO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71600"/>
            <a:ext cx="4572000" cy="4846320"/>
          </a:xfrm>
          <a:prstGeom prst="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WARM-UP]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Metas e Foco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5836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METAS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O que vamos alcançar hoje: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371600"/>
            <a:ext cx="42062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ESCRITA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Estrutura Fixa Haas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2084831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01</a:t>
            </a:r>
          </a:p>
          <a:p>
            <a:pPr>
              <a:spcBef>
                <a:spcPts val="200"/>
              </a:spcBef>
              <a:defRPr sz="1500" b="1">
                <a:solidFill>
                  <a:srgbClr val="4F35E2"/>
                </a:solidFill>
              </a:defRPr>
            </a:pPr>
            <a:r>
              <a:t>Fala Ativa</a:t>
            </a:r>
          </a:p>
          <a:p>
            <a:pPr>
              <a:spcBef>
                <a:spcPts val="400"/>
              </a:spcBef>
              <a:defRPr sz="1200" b="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371600"/>
            <a:ext cx="2084831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02</a:t>
            </a:r>
          </a:p>
          <a:p>
            <a:pPr>
              <a:spcBef>
                <a:spcPts val="200"/>
              </a:spcBef>
              <a:defRPr sz="1500" b="1">
                <a:solidFill>
                  <a:srgbClr val="4F35E2"/>
                </a:solidFill>
              </a:defRPr>
            </a:pPr>
            <a:r>
              <a:t>Exposição</a:t>
            </a:r>
          </a:p>
          <a:p>
            <a:pPr>
              <a:spcBef>
                <a:spcPts val="400"/>
              </a:spcBef>
              <a:defRPr sz="1200" b="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371600"/>
            <a:ext cx="2084831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E3A8A"/>
                </a:solidFill>
              </a:defRPr>
            </a:pPr>
            <a:r>
              <a:t>03</a:t>
            </a:r>
          </a:p>
          <a:p>
            <a:pPr>
              <a:spcBef>
                <a:spcPts val="200"/>
              </a:spcBef>
              <a:defRPr sz="1500" b="1">
                <a:solidFill>
                  <a:srgbClr val="4F35E2"/>
                </a:solidFill>
              </a:defRPr>
            </a:pPr>
            <a:r>
              <a:t>Prática</a:t>
            </a:r>
          </a:p>
          <a:p>
            <a:pPr>
              <a:spcBef>
                <a:spcPts val="400"/>
              </a:spcBef>
              <a:defRPr sz="1200" b="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371600"/>
            <a:ext cx="2084831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04</a:t>
            </a:r>
          </a:p>
          <a:p>
            <a:pPr>
              <a:spcBef>
                <a:spcPts val="200"/>
              </a:spcBef>
              <a:defRPr sz="1500" b="1">
                <a:solidFill>
                  <a:srgbClr val="4F35E2"/>
                </a:solidFill>
              </a:defRPr>
            </a:pPr>
            <a:r>
              <a:t>Conversa</a:t>
            </a:r>
          </a:p>
          <a:p>
            <a:pPr>
              <a:spcBef>
                <a:spcPts val="400"/>
              </a:spcBef>
              <a:defRPr sz="1200" b="0">
                <a:solidFill>
                  <a:srgbClr val="334155"/>
                </a:solidFill>
              </a:defRPr>
            </a:pPr>
            <a:r>
              <a:t>Aplicação prática real.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371600"/>
            <a:ext cx="2084831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05</a:t>
            </a:r>
          </a:p>
          <a:p>
            <a:pPr>
              <a:spcBef>
                <a:spcPts val="200"/>
              </a:spcBef>
              <a:defRPr sz="1500" b="1">
                <a:solidFill>
                  <a:srgbClr val="4F35E2"/>
                </a:solidFill>
              </a:defRPr>
            </a:pPr>
            <a:r>
              <a:t>Escrita</a:t>
            </a:r>
          </a:p>
          <a:p>
            <a:pPr>
              <a:spcBef>
                <a:spcPts val="400"/>
              </a:spcBef>
              <a:defRPr sz="1200" b="0">
                <a:solidFill>
                  <a:srgbClr val="334155"/>
                </a:solidFill>
              </a:defRPr>
            </a:pPr>
            <a:r>
              <a:t>Consolidação e memorização.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10642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FOCUS</a:t>
            </a:r>
          </a:p>
          <a:p>
            <a:pPr>
              <a:spcBef>
                <a:spcPts val="200"/>
              </a:spcBef>
              <a:defRPr sz="18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EXEMPLOS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Aplicações Práticas: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93192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E3A8A"/>
                </a:solidFill>
              </a:defRPr>
            </a:pPr>
            <a:r>
              <a:t>REGRAS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10642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FOCUS</a:t>
            </a:r>
          </a:p>
          <a:p>
            <a:pPr>
              <a:spcBef>
                <a:spcPts val="200"/>
              </a:spcBef>
              <a:defRPr sz="18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EXEMPLOS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Aplicações Práticas: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93192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E3A8A"/>
                </a:solidFill>
              </a:defRPr>
            </a:pPr>
            <a:r>
              <a:t>REGRAS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10642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FOCUS</a:t>
            </a:r>
          </a:p>
          <a:p>
            <a:pPr>
              <a:spcBef>
                <a:spcPts val="200"/>
              </a:spcBef>
              <a:defRPr sz="18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EXEMPLOS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Aplicações Práticas: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93192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E3A8A"/>
                </a:solidFill>
              </a:defRPr>
            </a:pPr>
            <a:r>
              <a:t>REGRAS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3949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RESUMO</a:t>
            </a:r>
          </a:p>
          <a:p>
            <a:pPr>
              <a:spcBef>
                <a:spcPts val="200"/>
              </a:spcBef>
              <a:defRPr sz="1800" b="1">
                <a:solidFill>
                  <a:srgbClr val="4F35E2"/>
                </a:solidFill>
              </a:defRPr>
            </a:pPr>
            <a:r>
              <a:t>Pontos Chave: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3949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CULTURA</a:t>
            </a:r>
          </a:p>
          <a:p>
            <a:pPr>
              <a:spcBef>
                <a:spcPts val="200"/>
              </a:spcBef>
              <a:defRPr sz="1800" b="1">
                <a:solidFill>
                  <a:srgbClr val="4F35E2"/>
                </a:solidFill>
              </a:defRPr>
            </a:pPr>
            <a:r>
              <a:t>Mídia Recomendada: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0" tIns="109728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822960" cy="1371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0" tIns="109728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822960" cy="1371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0" tIns="109728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26080"/>
            <a:ext cx="822960" cy="1371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9260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0" tIns="109728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822960" cy="1371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0" tIns="109728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480560"/>
            <a:ext cx="822960" cy="1371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0" tIns="109728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822960" cy="1371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0" tIns="109728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822960" cy="1371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0" tIns="109728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26080"/>
            <a:ext cx="822960" cy="1371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9260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0" tIns="109728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822960" cy="1371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0" tIns="109728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480560"/>
            <a:ext cx="822960" cy="1371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Thread 1 de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3383280" cy="4846320"/>
          </a:xfrm>
          <a:prstGeom prst="rect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PERGUNTA ATIVA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74066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800" b="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566160"/>
            <a:ext cx="7406640" cy="26517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de Apoio ao Professor: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Thread 2 de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3383280" cy="4846320"/>
          </a:xfrm>
          <a:prstGeom prst="rect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PERGUNTA ATIVA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7406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291840"/>
            <a:ext cx="7406640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300" b="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846320"/>
            <a:ext cx="7406640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100" b="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Thread 3 de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3383280" cy="4846320"/>
          </a:xfrm>
          <a:prstGeom prst="rect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PERGUNTA ATIVA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7406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291840"/>
            <a:ext cx="7406640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300" b="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846320"/>
            <a:ext cx="3648456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100" b="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5863" y="4846320"/>
            <a:ext cx="3648456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100" b="0">
                <a:solidFill>
                  <a:srgbClr val="334155"/>
                </a:solidFill>
              </a:defRPr>
            </a:pPr>
            <a:r>
              <a:t>[Pergunta principal 2 sobr...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Thread 4 de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3383280" cy="4846320"/>
          </a:xfrm>
          <a:prstGeom prst="rect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PERGUNTA ATIVA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7406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291840"/>
            <a:ext cx="7406640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300" b="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846320"/>
            <a:ext cx="2395727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100" b="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03136" y="4846320"/>
            <a:ext cx="2395727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100" b="0">
                <a:solidFill>
                  <a:srgbClr val="334155"/>
                </a:solidFill>
              </a:defRPr>
            </a:pPr>
            <a:r>
              <a:t>[Pergunta principal 2 sobr...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08592" y="4846320"/>
            <a:ext cx="2395727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100" b="0">
                <a:solidFill>
                  <a:srgbClr val="334155"/>
                </a:solidFill>
              </a:defRPr>
            </a:pPr>
            <a:r>
              <a:t>[Pergunta principal 3 sobr...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Thread 5 de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3383280" cy="4846320"/>
          </a:xfrm>
          <a:prstGeom prst="rect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00" b="1">
                <a:solidFill>
                  <a:srgbClr val="4F35E2"/>
                </a:solidFill>
              </a:defRPr>
            </a:pPr>
            <a:r>
              <a:t>Q05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PERGUNTA ATIVA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7406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291840"/>
            <a:ext cx="7406640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300" b="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846320"/>
            <a:ext cx="1769363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4846320"/>
            <a:ext cx="1769363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  <a:r>
              <a:t>[Pergunta principal 2 sobr...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5863" y="4846320"/>
            <a:ext cx="1769363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  <a:r>
              <a:t>[Pergunta principal 3 sobr...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34955" y="4846320"/>
            <a:ext cx="1769363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  <a:r>
              <a:t>[Pergunta principal 4 sobr...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Thread 6 de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3383280" cy="4846320"/>
          </a:xfrm>
          <a:prstGeom prst="rect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00" b="1">
                <a:solidFill>
                  <a:srgbClr val="4F35E2"/>
                </a:solidFill>
              </a:defRPr>
            </a:pPr>
            <a:r>
              <a:t>Q06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PERGUNTA ATIVA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7406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291840"/>
            <a:ext cx="7406640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300" b="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846320"/>
            <a:ext cx="1393545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0953" y="4846320"/>
            <a:ext cx="1393545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  <a:r>
              <a:t>[Pergunta principal 2 sobr...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04227" y="4846320"/>
            <a:ext cx="1393545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  <a:r>
              <a:t>[Pergunta principal 3 sobr...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07500" y="4846320"/>
            <a:ext cx="1393545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  <a:r>
              <a:t>[Pergunta principal 4 sobr...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10774" y="4846320"/>
            <a:ext cx="1393545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  <a:r>
              <a:t>[Pergunta principal 5 sobr...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Thread 7 de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3383280" cy="4846320"/>
          </a:xfrm>
          <a:prstGeom prst="rect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00" b="1">
                <a:solidFill>
                  <a:srgbClr val="4F35E2"/>
                </a:solidFill>
              </a:defRPr>
            </a:pPr>
            <a:r>
              <a:t>Q07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PERGUNTA ATIVA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7406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291840"/>
            <a:ext cx="7406640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300" b="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846320"/>
            <a:ext cx="1143000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0408" y="4846320"/>
            <a:ext cx="1143000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2 sobr...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03136" y="4846320"/>
            <a:ext cx="1143000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3 sobr...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5864" y="4846320"/>
            <a:ext cx="1143000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4 sobr...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08592" y="4846320"/>
            <a:ext cx="1143000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5 sobr...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61320" y="4846320"/>
            <a:ext cx="1143000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06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6 sobr...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Thread 8 de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3383280" cy="4846320"/>
          </a:xfrm>
          <a:prstGeom prst="rect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00" b="1">
                <a:solidFill>
                  <a:srgbClr val="4F35E2"/>
                </a:solidFill>
              </a:defRPr>
            </a:pPr>
            <a:r>
              <a:t>Q08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PERGUNTA ATIVA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7406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291840"/>
            <a:ext cx="7406640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300" b="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846320"/>
            <a:ext cx="964038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71446" y="4846320"/>
            <a:ext cx="964038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2 sobr...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5213" y="4846320"/>
            <a:ext cx="964038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3 sobr...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8980" y="4846320"/>
            <a:ext cx="964038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4 sobr...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2747" y="4846320"/>
            <a:ext cx="964038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5 sobr...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66514" y="4846320"/>
            <a:ext cx="964038" cy="13716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06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6 sobr...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40281" y="4846320"/>
            <a:ext cx="964038" cy="13716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07</a:t>
            </a:r>
          </a:p>
          <a:p>
            <a:pPr>
              <a:spcBef>
                <a:spcPts val="400"/>
              </a:spcBef>
              <a:defRPr sz="900" b="0">
                <a:solidFill>
                  <a:srgbClr val="334155"/>
                </a:solidFill>
              </a:defRPr>
            </a:pPr>
            <a:r>
              <a:t>[Pergunta principal 7 sobr...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106424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TASK</a:t>
            </a:r>
          </a:p>
          <a:p>
            <a:pPr>
              <a:spcBef>
                <a:spcPts val="200"/>
              </a:spcBef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14800"/>
            <a:ext cx="110642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WHY</a:t>
            </a:r>
          </a:p>
          <a:p>
            <a:pPr>
              <a:spcBef>
                <a:spcPts val="200"/>
              </a:spcBef>
              <a:defRPr sz="1600" b="1">
                <a:solidFill>
                  <a:srgbClr val="4F35E2"/>
                </a:solidFill>
              </a:defRPr>
            </a:pPr>
            <a:r>
              <a:t>Fundamentação Pedagógica: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10642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HOMEWORK</a:t>
            </a:r>
          </a:p>
          <a:p>
            <a:pPr>
              <a:spcBef>
                <a:spcPts val="200"/>
              </a:spcBef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381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SCALE 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1064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14C8B0"/>
                </a:solidFill>
              </a:defRPr>
            </a:pPr>
            <a:r>
              <a:t>THANKS</a:t>
            </a:r>
          </a:p>
          <a:p>
            <a:pPr>
              <a:spcBef>
                <a:spcPts val="200"/>
              </a:spcBef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1106424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FEEDBACK</a:t>
            </a:r>
          </a:p>
          <a:p>
            <a:pPr>
              <a:spcBef>
                <a:spcPts val="200"/>
              </a:spcBef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