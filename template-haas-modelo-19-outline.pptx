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01 //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noFill/>
                <a:ln w="25400">
                  <a:solidFill>
                    <a:srgbClr val="4F35E2"/>
                  </a:solidFill>
                </a:ln>
              </a:rPr>
              <a:t>LANGUAGE
</a:t>
            </a:r>
            <a:r>
              <a:rPr sz="2200" b="1">
                <a:solidFill>
                  <a:srgbClr val="1E3A8A"/>
                </a:solidFill>
              </a:rPr>
              <a:t>[Título da Aula / Tema Principal]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4155"/>
                </a:solidFill>
              </a:defRPr>
            </a:pPr>
            <a:r>
              <a:t>[Subtítulo / Descrição da Aula]</a:t>
            </a:r>
          </a:p>
          <a:p>
            <a:pPr>
              <a:spcBef>
                <a:spcPts val="1200"/>
              </a:spcBef>
              <a:defRPr sz="1500" b="1">
                <a:solidFill>
                  <a:srgbClr val="14C8B0"/>
                </a:solidFill>
              </a:defRPr>
            </a:pPr>
            <a:r>
              <a:t>📅 Data da Aula: [DD/MM/AAAA]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097280"/>
            <a:ext cx="438912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STREETWEAR]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02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Membros Registrados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TEACHER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STUDENTS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03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2179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WARMUP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31920"/>
            <a:ext cx="62179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NEURO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371600"/>
            <a:ext cx="45720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WARMUP]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04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PONTOS DE FOCO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5836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GOALS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371600"/>
            <a:ext cx="42062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WRITE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05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Estrutura Haas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1064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STEP 01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Fala Ativa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59152"/>
            <a:ext cx="11064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STEP 02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Exposição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46704"/>
            <a:ext cx="11064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STEP 03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Prática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Exercícios com suporte.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334256"/>
            <a:ext cx="11064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STEP 04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Conversa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Aplicação prática real.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321808"/>
            <a:ext cx="11064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STEP 05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Escrita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Consolidação e memorização.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06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10642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STRUCTURE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31920"/>
            <a:ext cx="53949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EXAMP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Aplicações Práticas: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931920"/>
            <a:ext cx="53949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RULES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07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10642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STRUCTURE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31920"/>
            <a:ext cx="53949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EXAMP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Aplicações Práticas: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931920"/>
            <a:ext cx="53949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RULES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08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10642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STRUCTURE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31920"/>
            <a:ext cx="53949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EXAMP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Aplicações Práticas: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931920"/>
            <a:ext cx="53949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RULES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09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3949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SUMMARY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3949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MEDIA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Mídia Recomendada: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10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1 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94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/>
            <a:r>
              <a:rPr sz="2200" b="1">
                <a:noFill/>
                <a:ln w="19050">
                  <a:solidFill>
                    <a:srgbClr val="4F35E2"/>
                  </a:solidFill>
                </a:ln>
              </a:rPr>
              <a:t>#01  </a:t>
            </a:r>
            <a:r>
              <a:rPr sz="1400">
                <a:solidFill>
                  <a:srgbClr val="334155"/>
                </a:solidFill>
              </a:rPr>
              <a:t>[Lacunas contextualizadas com opções]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394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/>
            <a:r>
              <a:rPr sz="2200" b="1">
                <a:noFill/>
                <a:ln w="19050">
                  <a:solidFill>
                    <a:srgbClr val="14C8B0"/>
                  </a:solidFill>
                </a:ln>
              </a:rPr>
              <a:t>#02  </a:t>
            </a:r>
            <a:r>
              <a:rPr sz="1400">
                <a:solidFill>
                  <a:srgbClr val="334155"/>
                </a:solidFill>
              </a:rPr>
              <a:t>[Lacunas contextualizadas com opções]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5394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/>
            <a:r>
              <a:rPr sz="2200" b="1">
                <a:noFill/>
                <a:ln w="19050">
                  <a:solidFill>
                    <a:srgbClr val="4F35E2"/>
                  </a:solidFill>
                </a:ln>
              </a:rPr>
              <a:t>#03  </a:t>
            </a:r>
            <a:r>
              <a:rPr sz="1400">
                <a:solidFill>
                  <a:srgbClr val="334155"/>
                </a:solidFill>
              </a:rPr>
              <a:t>[Preenchimento direto de verbos]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926080"/>
            <a:ext cx="5394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/>
            <a:r>
              <a:rPr sz="2200" b="1">
                <a:noFill/>
                <a:ln w="19050">
                  <a:solidFill>
                    <a:srgbClr val="14C8B0"/>
                  </a:solidFill>
                </a:ln>
              </a:rPr>
              <a:t>#04  </a:t>
            </a:r>
            <a:r>
              <a:rPr sz="1400">
                <a:solidFill>
                  <a:srgbClr val="334155"/>
                </a:solidFill>
              </a:rPr>
              <a:t>[Reestruturação / Transformação de frase]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80560"/>
            <a:ext cx="11064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/>
            <a:r>
              <a:rPr sz="2200" b="1">
                <a:noFill/>
                <a:ln w="19050">
                  <a:solidFill>
                    <a:srgbClr val="4F35E2"/>
                  </a:solidFill>
                </a:ln>
              </a:rPr>
              <a:t>#05  </a:t>
            </a:r>
            <a:r>
              <a:rPr sz="1400">
                <a:solidFill>
                  <a:srgbClr val="334155"/>
                </a:solidFill>
              </a:rPr>
              <a:t>[Reestruturação / Transformação de frase]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11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6 a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94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/>
            <a:r>
              <a:rPr sz="2200" b="1">
                <a:noFill/>
                <a:ln w="19050">
                  <a:solidFill>
                    <a:srgbClr val="14C8B0"/>
                  </a:solidFill>
                </a:ln>
              </a:rPr>
              <a:t>#06  </a:t>
            </a:r>
            <a:r>
              <a:rPr sz="1400">
                <a:solidFill>
                  <a:srgbClr val="334155"/>
                </a:solidFill>
              </a:rPr>
              <a:t>[Preposição / Conector correto]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394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/>
            <a:r>
              <a:rPr sz="2200" b="1">
                <a:noFill/>
                <a:ln w="19050">
                  <a:solidFill>
                    <a:srgbClr val="4F35E2"/>
                  </a:solidFill>
                </a:ln>
              </a:rPr>
              <a:t>#07  </a:t>
            </a:r>
            <a:r>
              <a:rPr sz="1400">
                <a:solidFill>
                  <a:srgbClr val="334155"/>
                </a:solidFill>
              </a:rPr>
              <a:t>[Escolha da opção correta]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5394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/>
            <a:r>
              <a:rPr sz="2200" b="1">
                <a:noFill/>
                <a:ln w="19050">
                  <a:solidFill>
                    <a:srgbClr val="14C8B0"/>
                  </a:solidFill>
                </a:ln>
              </a:rPr>
              <a:t>#08  </a:t>
            </a:r>
            <a:r>
              <a:rPr sz="1400">
                <a:solidFill>
                  <a:srgbClr val="334155"/>
                </a:solidFill>
              </a:rPr>
              <a:t>[Substituição por sinônimo formal]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926080"/>
            <a:ext cx="5394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/>
            <a:r>
              <a:rPr sz="2200" b="1">
                <a:noFill/>
                <a:ln w="19050">
                  <a:solidFill>
                    <a:srgbClr val="4F35E2"/>
                  </a:solidFill>
                </a:ln>
              </a:rPr>
              <a:t>#09  </a:t>
            </a:r>
            <a:r>
              <a:rPr sz="1400">
                <a:solidFill>
                  <a:srgbClr val="334155"/>
                </a:solidFill>
              </a:rPr>
              <a:t>[Identificação de erro e correção]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80560"/>
            <a:ext cx="11064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/>
            <a:r>
              <a:rPr sz="2200" b="1">
                <a:noFill/>
                <a:ln w="19050">
                  <a:solidFill>
                    <a:srgbClr val="14C8B0"/>
                  </a:solidFill>
                </a:ln>
              </a:rPr>
              <a:t>#10  </a:t>
            </a:r>
            <a:r>
              <a:rPr sz="1400">
                <a:solidFill>
                  <a:srgbClr val="334155"/>
                </a:solidFill>
              </a:rPr>
              <a:t>[Tradução de sentido sem uso literal]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12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[1/8]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10642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ACTIVE Q01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8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110642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PROMPTS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13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[2/8]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5836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ACTIVE Q02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65836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PROMPTS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371600"/>
            <a:ext cx="4206240" cy="484632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Q01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te...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14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[3/8]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5836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ACTIVE Q03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65836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PROMPTS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371600"/>
            <a:ext cx="4206240" cy="2368296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Q01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te...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3849624"/>
            <a:ext cx="4206240" cy="2368296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Q02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sobre o te...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15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[4/8]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5836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ACTIVE Q04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65836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PROMPTS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371600"/>
            <a:ext cx="4206240" cy="1542287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Q01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te...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3023616"/>
            <a:ext cx="4206240" cy="1542287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Q02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sobre o te...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4675632"/>
            <a:ext cx="4206240" cy="1542287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Q03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3 sobre o te...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16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[5/8]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5836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ACTIVE Q05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65836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PROMPTS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371600"/>
            <a:ext cx="4206240" cy="1129284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Q01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te...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610612"/>
            <a:ext cx="4206240" cy="1129284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Q02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te...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849624"/>
            <a:ext cx="4206240" cy="1129284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Q03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te...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5088636"/>
            <a:ext cx="4206240" cy="1129284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Q04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te...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17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[6/8]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5836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ACTIVE Q06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65836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PROMPTS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371600"/>
            <a:ext cx="4206240" cy="881481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Q01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te...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362809"/>
            <a:ext cx="4206240" cy="881481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Q02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te...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354019"/>
            <a:ext cx="4206240" cy="881481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Q03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te...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4345228"/>
            <a:ext cx="4206240" cy="881481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Q04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5336438"/>
            <a:ext cx="4206240" cy="881481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Q05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5 sobre o te...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18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[7/8]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5836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ACTIVE Q07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65836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PROMPTS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371600"/>
            <a:ext cx="4206240" cy="71628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Q01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sobre o te...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197608"/>
            <a:ext cx="4206240" cy="71628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Q02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sobre o te...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023616"/>
            <a:ext cx="4206240" cy="71628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Q03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sobre o te...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3849624"/>
            <a:ext cx="4206240" cy="71628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Q04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sobre o 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4675632"/>
            <a:ext cx="4206240" cy="71628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Q05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sobre o te...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5501640"/>
            <a:ext cx="4206240" cy="71628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Q06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sobre o te...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19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[8/8]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5836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ACTIVE Q08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Principal: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65836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PROMPTS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371600"/>
            <a:ext cx="4206240" cy="598278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Q01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sobre o te...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079606"/>
            <a:ext cx="4206240" cy="598278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Q02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sobre o te...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787613"/>
            <a:ext cx="4206240" cy="598278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Q03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sobre o te...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3495620"/>
            <a:ext cx="4206240" cy="598278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Q04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sobre o te...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4203627"/>
            <a:ext cx="4206240" cy="598278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Q05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sobre o te...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4911634"/>
            <a:ext cx="4206240" cy="598278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Q06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sobre o te...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5619641"/>
            <a:ext cx="4206240" cy="598278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Q07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7 sobre o te...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20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106424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TASK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14800"/>
            <a:ext cx="110642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WHY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Fundamentação Pedagógica: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21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10642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HOMEWORK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25400" cy="6217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OUTLINE TYPOGRAPHY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22 //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1064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THANKS</a:t>
            </a:r>
          </a:p>
          <a:p>
            <a:pPr>
              <a:spcBef>
                <a:spcPts val="400"/>
              </a:spcBef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1106424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/>
            <a:r>
              <a:rPr sz="2800" b="1">
                <a:noFill/>
                <a:ln w="19050">
                  <a:solidFill>
                    <a:srgbClr val="4F35E2"/>
                  </a:solidFill>
                </a:ln>
              </a:rPr>
              <a:t>FEEDBACK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