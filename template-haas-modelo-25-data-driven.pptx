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[01/22]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2212848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[STRUCTURE_HEAD]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645920"/>
            <a:ext cx="4572000" cy="457200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[DIAGRAMA_CAPA_SCHEMATIC]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59" y="1737360"/>
            <a:ext cx="4389120" cy="4389120"/>
          </a:xfrm>
          <a:prstGeom prst="rect">
            <a:avLst/>
          </a:prstGeom>
          <a:noFill/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[02/22]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Presença &amp; Integrantes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Registro de Nó de Acesso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322576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[INSTRUCTOR_NODE]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2194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103120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[STUDENTS_NODE]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[03/22]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Aquecimento / 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Foco 100% na Fala (3 Minutos)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212848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[SPEECH_TRIGGER]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6400800" cy="20116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50207"/>
            <a:ext cx="221284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[NEURO_ANALYSIS]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572000" cy="4572000"/>
          </a:xfrm>
          <a:prstGeom prst="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[VISUAL_WARMUP_SPEC]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59" y="1737360"/>
            <a:ext cx="4389120" cy="4389120"/>
          </a:xfrm>
          <a:prstGeom prst="rect">
            <a:avLst/>
          </a:prstGeom>
          <a:noFill/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[04/22]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Objetivos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Desmontagem Pedagógica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432304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[TARGET_CHECKLIST]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645920"/>
            <a:ext cx="4572000" cy="45720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389888"/>
            <a:ext cx="1993391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[WRITING_SPEC]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[05/22]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A Nossa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Arquitetura do Sistema Haas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da gramática.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50008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Prática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444752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Conversa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em contexto.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7024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memorização.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30368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[06/22]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Explicação do Tema — Parte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2322576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[GRAMMAR_ANATOMY]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45920"/>
            <a:ext cx="45720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89888"/>
            <a:ext cx="221284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[USAGE_EXAMPLES]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114800"/>
            <a:ext cx="4572000" cy="210312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858768"/>
            <a:ext cx="2322576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[EXCEPTIONS_SPEC]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[07/22]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Explicação do Tema — Parte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2322576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[GRAMMAR_ANATOMY]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45920"/>
            <a:ext cx="45720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89888"/>
            <a:ext cx="221284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[USAGE_EXAMPLES]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114800"/>
            <a:ext cx="4572000" cy="210312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858768"/>
            <a:ext cx="2322576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[EXCEPTIONS_SPEC]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[08/22]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Explicação do Tema — Parte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64008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2322576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[GRAMMAR_ANATOMY]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45920"/>
            <a:ext cx="45720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89888"/>
            <a:ext cx="221284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[USAGE_EXAMPLES]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114800"/>
            <a:ext cx="4572000" cy="2103120"/>
          </a:xfrm>
          <a:prstGeom prst="rect">
            <a:avLst/>
          </a:prstGeom>
          <a:solidFill>
            <a:srgbClr val="EDE9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858768"/>
            <a:ext cx="2322576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[EXCEPTIONS_SPEC]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[09/22]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Síntese do Conteúdo &amp; Sugestão Cultural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2212848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[CORE_SYNTHESIS]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89888"/>
            <a:ext cx="221284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[CULTURAL_MEDIA]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[10/22]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Prática Guiada — Blocos 1 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Correção de Vícios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77295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801368"/>
            <a:ext cx="329184" cy="329184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310127"/>
            <a:ext cx="329184" cy="329184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3310127"/>
            <a:ext cx="329184" cy="329184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138928"/>
            <a:ext cx="329184" cy="329184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5138928"/>
            <a:ext cx="329184" cy="329184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[11/22]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Prática Guiada — Blocos 6 a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Desafios Práticos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77295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801368"/>
            <a:ext cx="329184" cy="329184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310127"/>
            <a:ext cx="329184" cy="329184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3310127"/>
            <a:ext cx="329184" cy="329184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5138928"/>
            <a:ext cx="329184" cy="329184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9436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5138928"/>
            <a:ext cx="329184" cy="329184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[12/22]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[1/8]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[Q01]: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3200400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[ACTIVE_PROMPT_SCHEMATIC]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PROMPTS DE 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[13/22]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[2/8]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[Q02]: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3858768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457200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[14/22]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[3/8]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[Q03]: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2688336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2231136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5029200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986784"/>
            <a:ext cx="4297680" cy="2231136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730752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[15/22]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[4/8]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[Q04]: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[ACTIVE_PROMPT_Q04]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2298192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145084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3858768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206496"/>
            <a:ext cx="4297680" cy="1450848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950464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20" name="Oval 19"/>
          <p:cNvSpPr/>
          <p:nvPr/>
        </p:nvSpPr>
        <p:spPr>
          <a:xfrm>
            <a:off x="7104888" y="5419343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767072"/>
            <a:ext cx="4297680" cy="145084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511039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[16/22]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[5/8]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[Q05]: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[ACTIVE_PROMPT_Q05]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2103120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106070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3273552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816352"/>
            <a:ext cx="4297680" cy="1060704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560320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20" name="Oval 19"/>
          <p:cNvSpPr/>
          <p:nvPr/>
        </p:nvSpPr>
        <p:spPr>
          <a:xfrm>
            <a:off x="7104888" y="4443983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986783"/>
            <a:ext cx="4297680" cy="106070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730751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  <p:sp>
        <p:nvSpPr>
          <p:cNvPr id="23" name="Oval 22"/>
          <p:cNvSpPr/>
          <p:nvPr/>
        </p:nvSpPr>
        <p:spPr>
          <a:xfrm>
            <a:off x="7104888" y="5614416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5157216"/>
            <a:ext cx="4297680" cy="1060704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4901183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[NODE_04]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[17/22]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[6/8]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[Q06]: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[ACTIVE_PROMPT_Q06]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1986076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82661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2922422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582265"/>
            <a:ext cx="4297680" cy="826617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326233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20" name="Oval 19"/>
          <p:cNvSpPr/>
          <p:nvPr/>
        </p:nvSpPr>
        <p:spPr>
          <a:xfrm>
            <a:off x="7104888" y="3858768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518611"/>
            <a:ext cx="4297680" cy="82661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262579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  <p:sp>
        <p:nvSpPr>
          <p:cNvPr id="23" name="Oval 22"/>
          <p:cNvSpPr/>
          <p:nvPr/>
        </p:nvSpPr>
        <p:spPr>
          <a:xfrm>
            <a:off x="7104888" y="4795113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4454956"/>
            <a:ext cx="4297680" cy="826617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4198924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[NODE_04]</a:t>
            </a:r>
          </a:p>
        </p:txBody>
      </p:sp>
      <p:sp>
        <p:nvSpPr>
          <p:cNvPr id="26" name="Oval 25"/>
          <p:cNvSpPr/>
          <p:nvPr/>
        </p:nvSpPr>
        <p:spPr>
          <a:xfrm>
            <a:off x="7104888" y="5731459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5391302"/>
            <a:ext cx="4297680" cy="82661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5135270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[NODE_05]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[18/22]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[7/8]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[Q07]: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[ACTIVE_PROMPT_Q07]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1908048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67056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2688336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426208"/>
            <a:ext cx="4297680" cy="670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70175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20" name="Oval 19"/>
          <p:cNvSpPr/>
          <p:nvPr/>
        </p:nvSpPr>
        <p:spPr>
          <a:xfrm>
            <a:off x="7104888" y="3468624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206496"/>
            <a:ext cx="4297680" cy="67056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950464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  <p:sp>
        <p:nvSpPr>
          <p:cNvPr id="23" name="Oval 22"/>
          <p:cNvSpPr/>
          <p:nvPr/>
        </p:nvSpPr>
        <p:spPr>
          <a:xfrm>
            <a:off x="7104888" y="4248912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3986784"/>
            <a:ext cx="4297680" cy="670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730752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[NODE_04]</a:t>
            </a:r>
          </a:p>
        </p:txBody>
      </p:sp>
      <p:sp>
        <p:nvSpPr>
          <p:cNvPr id="26" name="Oval 25"/>
          <p:cNvSpPr/>
          <p:nvPr/>
        </p:nvSpPr>
        <p:spPr>
          <a:xfrm>
            <a:off x="7104888" y="5029200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4767072"/>
            <a:ext cx="4297680" cy="67056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511040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[NODE_05]</a:t>
            </a:r>
          </a:p>
        </p:txBody>
      </p:sp>
      <p:sp>
        <p:nvSpPr>
          <p:cNvPr id="29" name="Oval 28"/>
          <p:cNvSpPr/>
          <p:nvPr/>
        </p:nvSpPr>
        <p:spPr>
          <a:xfrm>
            <a:off x="7104888" y="5809488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5547360"/>
            <a:ext cx="4297680" cy="67056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5291328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[NODE_06]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[19/22]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Thread de Pergunta [8/8]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6400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[Q08]: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[ACTIVE_PROMPT_Q08]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761488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[TEACHER_SUPPORT_LOG]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645920"/>
            <a:ext cx="25400" cy="4389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4888" y="1852313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45920"/>
            <a:ext cx="4297680" cy="55909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389888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[NODE_01]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2521131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314738"/>
            <a:ext cx="4297680" cy="55909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058706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[NODE_02]</a:t>
            </a:r>
          </a:p>
        </p:txBody>
      </p:sp>
      <p:sp>
        <p:nvSpPr>
          <p:cNvPr id="20" name="Oval 19"/>
          <p:cNvSpPr/>
          <p:nvPr/>
        </p:nvSpPr>
        <p:spPr>
          <a:xfrm>
            <a:off x="7104888" y="3189949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2983556"/>
            <a:ext cx="4297680" cy="55909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27524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[NODE_03]</a:t>
            </a:r>
          </a:p>
        </p:txBody>
      </p:sp>
      <p:sp>
        <p:nvSpPr>
          <p:cNvPr id="23" name="Oval 22"/>
          <p:cNvSpPr/>
          <p:nvPr/>
        </p:nvSpPr>
        <p:spPr>
          <a:xfrm>
            <a:off x="7104888" y="3858768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3652374"/>
            <a:ext cx="4297680" cy="55909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396342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[NODE_04]</a:t>
            </a:r>
          </a:p>
        </p:txBody>
      </p:sp>
      <p:sp>
        <p:nvSpPr>
          <p:cNvPr id="26" name="Oval 25"/>
          <p:cNvSpPr/>
          <p:nvPr/>
        </p:nvSpPr>
        <p:spPr>
          <a:xfrm>
            <a:off x="7104888" y="4527586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4321193"/>
            <a:ext cx="4297680" cy="55909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065161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[NODE_05]</a:t>
            </a:r>
          </a:p>
        </p:txBody>
      </p:sp>
      <p:sp>
        <p:nvSpPr>
          <p:cNvPr id="29" name="Oval 28"/>
          <p:cNvSpPr/>
          <p:nvPr/>
        </p:nvSpPr>
        <p:spPr>
          <a:xfrm>
            <a:off x="7104888" y="5196404"/>
            <a:ext cx="164592" cy="164592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4990011"/>
            <a:ext cx="4297680" cy="55909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733979"/>
            <a:ext cx="1444752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[NODE_06]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8" y="5865222"/>
            <a:ext cx="164592" cy="164592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5658829"/>
            <a:ext cx="4297680" cy="55909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7 sobre o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5402797"/>
            <a:ext cx="144475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[NODE_07]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[20/22]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Atividade de Escrita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Consolidação e Memorização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542032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[WRITING_TASK_SPEC]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210312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2980944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[PEDAGOGICAL_RATIONALE]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[21/22]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Encerramento — Tarefa de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Ação e Prática Contínua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2761488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[HOMEWORK_ASSIGNMENT]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77295" cy="1905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14300"/>
            <a:ext cx="137160" cy="13716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TEXT ANATOMY / DATA-DRIVEN EDITION 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SCHEMATIC [22/22]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// Encerramento &amp; Feedback 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[ANATOMY SPEC]: Considerações Finais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7295" cy="20116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993391" cy="25603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[CLOSING_SPEC]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77295" cy="2286000"/>
          </a:xfrm>
          <a:prstGeom prst="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75887"/>
            <a:ext cx="1993391" cy="25603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[FEEDBACK_LOG]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