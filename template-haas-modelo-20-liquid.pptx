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50000">
                <a:srgbClr val="4F35E2"/>
              </a:gs>
              <a:gs pos="100000">
                <a:srgbClr val="14C8B0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LIQUID GRADIENT EDITION 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01 /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728655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3800" b="1">
                <a:solidFill>
                  <a:srgbClr val="4F35E2"/>
                </a:solidFill>
              </a:defRPr>
            </a:pPr>
            <a:r>
              <a:t>[Título da Aula / Tema Principal]</a:t>
            </a:r>
          </a:p>
          <a:p>
            <a:pPr>
              <a:spcBef>
                <a:spcPts val="600"/>
              </a:spcBef>
              <a:defRPr sz="2000">
                <a:solidFill>
                  <a:srgbClr val="334155"/>
                </a:solidFill>
              </a:defRPr>
            </a:pPr>
            <a:r>
              <a:t>[Subtítulo / Descrição da Aula]</a:t>
            </a:r>
            <a:br/>
            <a:br/>
            <a:r>
              <a:t>📅 Data da Aula: [DD/MM/AAAA]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10728655" cy="201168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da Capa - Panorama Fluid]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50000">
                <a:srgbClr val="4F35E2"/>
              </a:gs>
              <a:gs pos="100000">
                <a:srgbClr val="14C8B0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LIQUID GRADIENT EDITION 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02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Presença &amp; Integrantes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C8B0"/>
                </a:solidFill>
              </a:defRPr>
            </a:pPr>
            <a:r>
              <a:t>Sessão de Aprendizado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68580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Professor(a):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[Nome do(a) Professor(a)]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749039"/>
            <a:ext cx="6888175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Aluno(s):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[Nome do Aluno / Lista da Turma]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50000">
                <a:srgbClr val="4F35E2"/>
              </a:gs>
              <a:gs pos="100000">
                <a:srgbClr val="14C8B0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LIQUID GRADIENT EDITION 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03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Aquecimento / Warm-up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C8B0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5029200" cy="265176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Warm-up]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3566160"/>
            <a:ext cx="5516575" cy="26517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Fundamentação Neurocognitiva: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Ativa o córtex pré-frontal e reduz a inibição linguística inicial.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50000">
                <a:srgbClr val="4F35E2"/>
              </a:gs>
              <a:gs pos="100000">
                <a:srgbClr val="14C8B0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LIQUID GRADIENT EDITION 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04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Objetivos da Aula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C8B0"/>
                </a:solidFill>
              </a:defRPr>
            </a:pPr>
            <a:r>
              <a:t>Metas da Sessão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65836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Goal 01: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[Objetivo 1]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65836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Goal 02: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[Objetivo 2]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65836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400" b="1">
                <a:solidFill>
                  <a:srgbClr val="4F35E2"/>
                </a:solidFill>
              </a:defRPr>
            </a:pPr>
            <a:r>
              <a:t>Goal 03: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[Objetivo 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371600"/>
            <a:ext cx="3870655" cy="44805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Nota de Escrita: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50000">
                <a:srgbClr val="4F35E2"/>
              </a:gs>
              <a:gs pos="100000">
                <a:srgbClr val="14C8B0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LIQUID GRADIENT EDITION 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05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 Nossa Metodologia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C8B0"/>
                </a:solidFill>
              </a:defRPr>
            </a:pPr>
            <a:r>
              <a:t>Estrutura Haas 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1. Fala Ativa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2. Exposição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Apresentação leve da gramática.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4134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3. Prática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Exercícios com suporte.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4. Conversação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Aplicação prática das estruturas em contexto real.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242255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5. Escrita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Consolidação visual e redução da tradução automática.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50000">
                <a:srgbClr val="4F35E2"/>
              </a:gs>
              <a:gs pos="100000">
                <a:srgbClr val="14C8B0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LIQUID GRADIENT EDITION 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06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242255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50000">
                <a:srgbClr val="4F35E2"/>
              </a:gs>
              <a:gs pos="100000">
                <a:srgbClr val="14C8B0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LIQUID GRADIENT EDITION 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07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242255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50000">
                <a:srgbClr val="4F35E2"/>
              </a:gs>
              <a:gs pos="100000">
                <a:srgbClr val="14C8B0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LIQUID GRADIENT EDITION 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08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242255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50000">
                <a:srgbClr val="4F35E2"/>
              </a:gs>
              <a:gs pos="100000">
                <a:srgbClr val="14C8B0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LIQUID GRADIENT EDITION 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09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Síntese do Conteúdo &amp; Sugestão Cultural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Resumo do Tema: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728655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Sugestão Cultural: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🎵 [Nome da Música / Vídeo recomendado sobre o assunto].</a:t>
            </a:r>
            <a:br/>
            <a:br/>
            <a:r>
              <a:t>O professor pode rodar o áudio/vídeo ou deixar como recomendação extra para o aluno praticar.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50000">
                <a:srgbClr val="4F35E2"/>
              </a:gs>
              <a:gs pos="100000">
                <a:srgbClr val="14C8B0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LIQUID GRADIENT EDITION 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10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Prática Guiada — Blocos 1 a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C8B0"/>
                </a:solidFill>
              </a:defRPr>
            </a:pPr>
            <a:r>
              <a:t>Correção de Vícios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1691640"/>
            <a:ext cx="457200" cy="4572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52120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246120"/>
            <a:ext cx="457200" cy="457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51760"/>
            <a:ext cx="5242255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3246120"/>
            <a:ext cx="457200" cy="457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521208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5120640"/>
            <a:ext cx="457200" cy="4572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480560"/>
            <a:ext cx="5242255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5120640"/>
            <a:ext cx="457200" cy="4572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50000">
                <a:srgbClr val="4F35E2"/>
              </a:gs>
              <a:gs pos="100000">
                <a:srgbClr val="14C8B0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LIQUID GRADIENT EDITION 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11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Prática Guiada — Blocos 6 a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C8B0"/>
                </a:solidFill>
              </a:defRPr>
            </a:pPr>
            <a:r>
              <a:t>Desafios Práticos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1691640"/>
            <a:ext cx="457200" cy="457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52120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[Escolha da opção correta]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246120"/>
            <a:ext cx="457200" cy="4572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51760"/>
            <a:ext cx="5242255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3246120"/>
            <a:ext cx="457200" cy="457200"/>
          </a:xfrm>
          <a:prstGeom prst="ellips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521208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5120640"/>
            <a:ext cx="457200" cy="457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480560"/>
            <a:ext cx="5242255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3716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[Tradução de sentido sem uso literal]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5120640"/>
            <a:ext cx="457200" cy="45720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50000">
                <a:srgbClr val="4F35E2"/>
              </a:gs>
              <a:gs pos="100000">
                <a:srgbClr val="14C8B0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LIQUID GRADIENT EDITION 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12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C8B0"/>
                </a:solidFill>
              </a:defRPr>
            </a:pPr>
            <a:r>
              <a:t>Sessão de Fala [1/8]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Ativa:</a:t>
            </a:r>
          </a:p>
          <a:p>
            <a:pPr>
              <a:spcBef>
                <a:spcPts val="600"/>
              </a:spcBef>
              <a:defRPr sz="20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10728655" cy="17373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Apoio ao Professor: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50000">
                <a:srgbClr val="4F35E2"/>
              </a:gs>
              <a:gs pos="100000">
                <a:srgbClr val="14C8B0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LIQUID GRADIENT EDITION 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13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C8B0"/>
                </a:solidFill>
              </a:defRPr>
            </a:pPr>
            <a:r>
              <a:t>Sessão de Fala [2/8]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Q01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1 sobr...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02: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Apoio ao Professor: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50000">
                <a:srgbClr val="4F35E2"/>
              </a:gs>
              <a:gs pos="100000">
                <a:srgbClr val="14C8B0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LIQUID GRADIENT EDITION 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14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C8B0"/>
                </a:solidFill>
              </a:defRPr>
            </a:pPr>
            <a:r>
              <a:t>Sessão de Fala [3/8]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309463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Q01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1 sobr...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0711" y="1280160"/>
            <a:ext cx="5309463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Q02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2 sobr...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03: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Apoio ao Professor: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50000">
                <a:srgbClr val="4F35E2"/>
              </a:gs>
              <a:gs pos="100000">
                <a:srgbClr val="14C8B0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LIQUID GRADIENT EDITION 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15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C8B0"/>
                </a:solidFill>
              </a:defRPr>
            </a:pPr>
            <a:r>
              <a:t>Sessão de Fala [4/8]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503066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Q01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1 sobr...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4314" y="1280160"/>
            <a:ext cx="3503066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Q02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2 sobr...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7108" y="1280160"/>
            <a:ext cx="3503066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Q03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[Pergunta principal 3 sobr...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04: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Apoio ao Professor: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50000">
                <a:srgbClr val="4F35E2"/>
              </a:gs>
              <a:gs pos="100000">
                <a:srgbClr val="14C8B0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LIQUID GRADIENT EDITION 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16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C8B0"/>
                </a:solidFill>
              </a:defRPr>
            </a:pPr>
            <a:r>
              <a:t>Sessão de Fala [5/8]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2599867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Q01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1 sobr...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1115" y="1280160"/>
            <a:ext cx="2599867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Q02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2 sobr...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0711" y="1280160"/>
            <a:ext cx="2599867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Q03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3 sobr...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0307" y="1280160"/>
            <a:ext cx="2599867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Q04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4 sobr...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86000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05: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Apoio ao Professor: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50000">
                <a:srgbClr val="4F35E2"/>
              </a:gs>
              <a:gs pos="100000">
                <a:srgbClr val="14C8B0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LIQUID GRADIENT EDITION 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17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C8B0"/>
                </a:solidFill>
              </a:defRPr>
            </a:pPr>
            <a:r>
              <a:t>Sessão de Fala [6/8]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205794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Q01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1 sobr...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9196" y="1280160"/>
            <a:ext cx="205794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Q02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2 sobr...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6873" y="1280160"/>
            <a:ext cx="205794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Q03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3 sobr...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34549" y="1280160"/>
            <a:ext cx="205794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Q04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4 sobr...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02226" y="1280160"/>
            <a:ext cx="205794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Q05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[Pergunta principal 5 sobr...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286000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06: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Apoio ao Professor: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50000">
                <a:srgbClr val="4F35E2"/>
              </a:gs>
              <a:gs pos="100000">
                <a:srgbClr val="14C8B0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LIQUID GRADIENT EDITION 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18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C8B0"/>
                </a:solidFill>
              </a:defRPr>
            </a:pPr>
            <a:r>
              <a:t>Sessão de Fala [7/8]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696669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Q01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1 sobr...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37917" y="1280160"/>
            <a:ext cx="1696669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Q02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2 sobr...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4314" y="1280160"/>
            <a:ext cx="1696669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Q03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3 sobr...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0711" y="1280160"/>
            <a:ext cx="1696669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Q04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4 sobr...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7108" y="1280160"/>
            <a:ext cx="1696669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Q05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5 sobr...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63506" y="1280160"/>
            <a:ext cx="1696669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Q06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6 sobr...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86000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07: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Apoio ao Professor: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50000">
                <a:srgbClr val="4F35E2"/>
              </a:gs>
              <a:gs pos="100000">
                <a:srgbClr val="14C8B0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LIQUID GRADIENT EDITION 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19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Conversação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C8B0"/>
                </a:solidFill>
              </a:defRPr>
            </a:pPr>
            <a:r>
              <a:t>Sessão de Fala [8/8]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4386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Q01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1 sobr...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79860" y="1280160"/>
            <a:ext cx="14386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Q02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2 sobr...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28200" y="1280160"/>
            <a:ext cx="14386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Q03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3 sobr...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76541" y="1280160"/>
            <a:ext cx="14386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Q04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4 sobr...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24881" y="1280160"/>
            <a:ext cx="14386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Q05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5 sobr...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73222" y="1280160"/>
            <a:ext cx="14386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Q06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6 sobr...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21562" y="1280160"/>
            <a:ext cx="14386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Q07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[Pergunta principal 7 sobr...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286000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Ativa 08:</a:t>
            </a:r>
          </a:p>
          <a:p>
            <a:pPr>
              <a:spcBef>
                <a:spcPts val="600"/>
              </a:spcBef>
              <a:defRPr sz="1800">
                <a:solidFill>
                  <a:srgbClr val="334155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Apoio ao Professor: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discordar: 'Qual é o outro lado?'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50000">
                <a:srgbClr val="4F35E2"/>
              </a:gs>
              <a:gs pos="100000">
                <a:srgbClr val="14C8B0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LIQUID GRADIENT EDITION 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20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Atividade de Escrita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C8B0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728655" cy="21031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Fundamentação Pedagógica: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50000">
                <a:srgbClr val="4F35E2"/>
              </a:gs>
              <a:gs pos="100000">
                <a:srgbClr val="14C8B0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LIQUID GRADIENT EDITION 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21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C8B0"/>
                </a:solidFill>
              </a:defRPr>
            </a:pPr>
            <a:r>
              <a:t>Ação e Prática Contínua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Casa: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50000">
                <a:srgbClr val="4F35E2"/>
              </a:gs>
              <a:gs pos="100000">
                <a:srgbClr val="14C8B0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LIQUID GRADIENT EDITION 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4C8B0"/>
                </a:solidFill>
              </a:defRPr>
            </a:pPr>
            <a:r>
              <a:t>22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Encerramento &amp; Feedback Rápido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C8B0"/>
                </a:solidFill>
              </a:defRPr>
            </a:pPr>
            <a:r>
              <a:t>Considerações Finais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1828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Agradecimento: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728655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